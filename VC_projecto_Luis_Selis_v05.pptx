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8" r:id="rId3"/>
    <p:sldId id="260" r:id="rId4"/>
    <p:sldId id="266" r:id="rId5"/>
    <p:sldId id="261" r:id="rId6"/>
    <p:sldId id="262" r:id="rId7"/>
    <p:sldId id="263" r:id="rId8"/>
    <p:sldId id="264"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7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84F936-ECBA-4C3C-BA1D-27A386D4D363}" type="datetimeFigureOut">
              <a:rPr lang="en-US" smtClean="0"/>
              <a:t>1/14/2026</a:t>
            </a:fld>
            <a:endParaRPr lang="en-U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B8C29D-289A-4BD4-8E35-295E7FB41F58}" type="slidenum">
              <a:rPr lang="en-US" smtClean="0"/>
              <a:t>‹Nº›</a:t>
            </a:fld>
            <a:endParaRPr lang="en-US"/>
          </a:p>
        </p:txBody>
      </p:sp>
    </p:spTree>
    <p:extLst>
      <p:ext uri="{BB962C8B-B14F-4D97-AF65-F5344CB8AC3E}">
        <p14:creationId xmlns:p14="http://schemas.microsoft.com/office/powerpoint/2010/main" val="37804484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317E3D-B47D-4F01-B823-242A53C007D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a:p>
        </p:txBody>
      </p:sp>
      <p:sp>
        <p:nvSpPr>
          <p:cNvPr id="3" name="Subtítulo 2">
            <a:extLst>
              <a:ext uri="{FF2B5EF4-FFF2-40B4-BE49-F238E27FC236}">
                <a16:creationId xmlns:a16="http://schemas.microsoft.com/office/drawing/2014/main" id="{AE08C883-49A4-4D81-AFB3-29993EEE13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a:p>
        </p:txBody>
      </p:sp>
      <p:sp>
        <p:nvSpPr>
          <p:cNvPr id="4" name="Marcador de fecha 3">
            <a:extLst>
              <a:ext uri="{FF2B5EF4-FFF2-40B4-BE49-F238E27FC236}">
                <a16:creationId xmlns:a16="http://schemas.microsoft.com/office/drawing/2014/main" id="{0C748BC8-1294-47AA-897E-26504F4EC302}"/>
              </a:ext>
            </a:extLst>
          </p:cNvPr>
          <p:cNvSpPr>
            <a:spLocks noGrp="1"/>
          </p:cNvSpPr>
          <p:nvPr>
            <p:ph type="dt" sz="half" idx="10"/>
          </p:nvPr>
        </p:nvSpPr>
        <p:spPr/>
        <p:txBody>
          <a:bodyPr/>
          <a:lstStyle/>
          <a:p>
            <a:fld id="{66A3552B-EA39-418E-A683-718CAF11ED6E}" type="datetimeFigureOut">
              <a:rPr lang="en-US" smtClean="0"/>
              <a:t>1/14/2026</a:t>
            </a:fld>
            <a:endParaRPr lang="en-US"/>
          </a:p>
        </p:txBody>
      </p:sp>
      <p:sp>
        <p:nvSpPr>
          <p:cNvPr id="5" name="Marcador de pie de página 4">
            <a:extLst>
              <a:ext uri="{FF2B5EF4-FFF2-40B4-BE49-F238E27FC236}">
                <a16:creationId xmlns:a16="http://schemas.microsoft.com/office/drawing/2014/main" id="{F0B667EE-1A31-4AA4-8439-00109A998B25}"/>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8A5A98FC-B8C1-4EAD-853F-57F47CB724E7}"/>
              </a:ext>
            </a:extLst>
          </p:cNvPr>
          <p:cNvSpPr>
            <a:spLocks noGrp="1"/>
          </p:cNvSpPr>
          <p:nvPr>
            <p:ph type="sldNum" sz="quarter" idx="12"/>
          </p:nvPr>
        </p:nvSpPr>
        <p:spPr/>
        <p:txBody>
          <a:bodyPr/>
          <a:lstStyle/>
          <a:p>
            <a:fld id="{0D78D34E-F0E7-4CE0-B98C-DF2CED9D0B3B}" type="slidenum">
              <a:rPr lang="en-US" smtClean="0"/>
              <a:t>‹Nº›</a:t>
            </a:fld>
            <a:endParaRPr lang="en-US"/>
          </a:p>
        </p:txBody>
      </p:sp>
    </p:spTree>
    <p:extLst>
      <p:ext uri="{BB962C8B-B14F-4D97-AF65-F5344CB8AC3E}">
        <p14:creationId xmlns:p14="http://schemas.microsoft.com/office/powerpoint/2010/main" val="1098121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A37E56-25D3-41DD-BF3E-43AC318CD5CE}"/>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575C77BA-314A-43AD-8C98-8EC965F0E1E7}"/>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760C9F74-4D7A-4E02-B33C-230E08624137}"/>
              </a:ext>
            </a:extLst>
          </p:cNvPr>
          <p:cNvSpPr>
            <a:spLocks noGrp="1"/>
          </p:cNvSpPr>
          <p:nvPr>
            <p:ph type="dt" sz="half" idx="10"/>
          </p:nvPr>
        </p:nvSpPr>
        <p:spPr/>
        <p:txBody>
          <a:bodyPr/>
          <a:lstStyle/>
          <a:p>
            <a:fld id="{66A3552B-EA39-418E-A683-718CAF11ED6E}" type="datetimeFigureOut">
              <a:rPr lang="en-US" smtClean="0"/>
              <a:t>1/14/2026</a:t>
            </a:fld>
            <a:endParaRPr lang="en-US"/>
          </a:p>
        </p:txBody>
      </p:sp>
      <p:sp>
        <p:nvSpPr>
          <p:cNvPr id="5" name="Marcador de pie de página 4">
            <a:extLst>
              <a:ext uri="{FF2B5EF4-FFF2-40B4-BE49-F238E27FC236}">
                <a16:creationId xmlns:a16="http://schemas.microsoft.com/office/drawing/2014/main" id="{EB588336-DC10-4F09-B48E-B04C43E6BE8A}"/>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B28F5E52-CA0D-4392-9826-919D51DB8C67}"/>
              </a:ext>
            </a:extLst>
          </p:cNvPr>
          <p:cNvSpPr>
            <a:spLocks noGrp="1"/>
          </p:cNvSpPr>
          <p:nvPr>
            <p:ph type="sldNum" sz="quarter" idx="12"/>
          </p:nvPr>
        </p:nvSpPr>
        <p:spPr/>
        <p:txBody>
          <a:bodyPr/>
          <a:lstStyle/>
          <a:p>
            <a:fld id="{0D78D34E-F0E7-4CE0-B98C-DF2CED9D0B3B}" type="slidenum">
              <a:rPr lang="en-US" smtClean="0"/>
              <a:t>‹Nº›</a:t>
            </a:fld>
            <a:endParaRPr lang="en-US"/>
          </a:p>
        </p:txBody>
      </p:sp>
    </p:spTree>
    <p:extLst>
      <p:ext uri="{BB962C8B-B14F-4D97-AF65-F5344CB8AC3E}">
        <p14:creationId xmlns:p14="http://schemas.microsoft.com/office/powerpoint/2010/main" val="330606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77E264-E696-4E5D-85CF-C56DC49AAE01}"/>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A148B3F9-A7A9-478B-8FEA-18D9E75AD5F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4ED3965-34C0-4622-BE3B-D70AC3F1C701}"/>
              </a:ext>
            </a:extLst>
          </p:cNvPr>
          <p:cNvSpPr>
            <a:spLocks noGrp="1"/>
          </p:cNvSpPr>
          <p:nvPr>
            <p:ph type="dt" sz="half" idx="10"/>
          </p:nvPr>
        </p:nvSpPr>
        <p:spPr/>
        <p:txBody>
          <a:bodyPr/>
          <a:lstStyle/>
          <a:p>
            <a:fld id="{66A3552B-EA39-418E-A683-718CAF11ED6E}" type="datetimeFigureOut">
              <a:rPr lang="en-US" smtClean="0"/>
              <a:t>1/14/2026</a:t>
            </a:fld>
            <a:endParaRPr lang="en-US"/>
          </a:p>
        </p:txBody>
      </p:sp>
      <p:sp>
        <p:nvSpPr>
          <p:cNvPr id="5" name="Marcador de pie de página 4">
            <a:extLst>
              <a:ext uri="{FF2B5EF4-FFF2-40B4-BE49-F238E27FC236}">
                <a16:creationId xmlns:a16="http://schemas.microsoft.com/office/drawing/2014/main" id="{69EC80F0-6F1B-4558-9F03-66407CC8C404}"/>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095B9C4E-0FCD-4707-B6BD-BB59C22EF230}"/>
              </a:ext>
            </a:extLst>
          </p:cNvPr>
          <p:cNvSpPr>
            <a:spLocks noGrp="1"/>
          </p:cNvSpPr>
          <p:nvPr>
            <p:ph type="sldNum" sz="quarter" idx="12"/>
          </p:nvPr>
        </p:nvSpPr>
        <p:spPr/>
        <p:txBody>
          <a:bodyPr/>
          <a:lstStyle/>
          <a:p>
            <a:fld id="{0D78D34E-F0E7-4CE0-B98C-DF2CED9D0B3B}" type="slidenum">
              <a:rPr lang="en-US" smtClean="0"/>
              <a:t>‹Nº›</a:t>
            </a:fld>
            <a:endParaRPr lang="en-US"/>
          </a:p>
        </p:txBody>
      </p:sp>
    </p:spTree>
    <p:extLst>
      <p:ext uri="{BB962C8B-B14F-4D97-AF65-F5344CB8AC3E}">
        <p14:creationId xmlns:p14="http://schemas.microsoft.com/office/powerpoint/2010/main" val="24008699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E0A591-1E5C-49E7-9692-CF6262F74023}"/>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F3964A6C-E071-49A2-9D37-B26275907CE4}"/>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contenido 3">
            <a:extLst>
              <a:ext uri="{FF2B5EF4-FFF2-40B4-BE49-F238E27FC236}">
                <a16:creationId xmlns:a16="http://schemas.microsoft.com/office/drawing/2014/main" id="{8FA87944-8D53-4A7D-9F3F-CA3EB572A616}"/>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fecha 4">
            <a:extLst>
              <a:ext uri="{FF2B5EF4-FFF2-40B4-BE49-F238E27FC236}">
                <a16:creationId xmlns:a16="http://schemas.microsoft.com/office/drawing/2014/main" id="{8FA87385-6F73-49DC-BEAC-0C9E91CC986E}"/>
              </a:ext>
            </a:extLst>
          </p:cNvPr>
          <p:cNvSpPr>
            <a:spLocks noGrp="1"/>
          </p:cNvSpPr>
          <p:nvPr>
            <p:ph type="dt" sz="half" idx="10"/>
          </p:nvPr>
        </p:nvSpPr>
        <p:spPr/>
        <p:txBody>
          <a:bodyPr/>
          <a:lstStyle/>
          <a:p>
            <a:fld id="{66A3552B-EA39-418E-A683-718CAF11ED6E}" type="datetimeFigureOut">
              <a:rPr lang="en-US" smtClean="0"/>
              <a:t>1/14/2026</a:t>
            </a:fld>
            <a:endParaRPr lang="en-US"/>
          </a:p>
        </p:txBody>
      </p:sp>
      <p:sp>
        <p:nvSpPr>
          <p:cNvPr id="6" name="Marcador de pie de página 5">
            <a:extLst>
              <a:ext uri="{FF2B5EF4-FFF2-40B4-BE49-F238E27FC236}">
                <a16:creationId xmlns:a16="http://schemas.microsoft.com/office/drawing/2014/main" id="{81EB7A78-F694-4E3A-9118-BE761D034EA1}"/>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47C35447-CB8A-4195-90FC-1BD84042DCA4}"/>
              </a:ext>
            </a:extLst>
          </p:cNvPr>
          <p:cNvSpPr>
            <a:spLocks noGrp="1"/>
          </p:cNvSpPr>
          <p:nvPr>
            <p:ph type="sldNum" sz="quarter" idx="12"/>
          </p:nvPr>
        </p:nvSpPr>
        <p:spPr/>
        <p:txBody>
          <a:bodyPr/>
          <a:lstStyle/>
          <a:p>
            <a:fld id="{0D78D34E-F0E7-4CE0-B98C-DF2CED9D0B3B}" type="slidenum">
              <a:rPr lang="en-US" smtClean="0"/>
              <a:t>‹Nº›</a:t>
            </a:fld>
            <a:endParaRPr lang="en-US"/>
          </a:p>
        </p:txBody>
      </p:sp>
    </p:spTree>
    <p:extLst>
      <p:ext uri="{BB962C8B-B14F-4D97-AF65-F5344CB8AC3E}">
        <p14:creationId xmlns:p14="http://schemas.microsoft.com/office/powerpoint/2010/main" val="36567698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8FB877-5248-45E1-873D-AE880BAE2E8C}"/>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7DFE8A4C-55C1-46B2-8A30-58F21ED23E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4F61460C-7DCA-48CB-9914-92E446E7523B}"/>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texto 4">
            <a:extLst>
              <a:ext uri="{FF2B5EF4-FFF2-40B4-BE49-F238E27FC236}">
                <a16:creationId xmlns:a16="http://schemas.microsoft.com/office/drawing/2014/main" id="{1CBCB9AE-E1CE-4E60-ABD3-320BD9E9DD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AD299AD8-5EC3-4A59-8470-C900F24CE59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Marcador de fecha 6">
            <a:extLst>
              <a:ext uri="{FF2B5EF4-FFF2-40B4-BE49-F238E27FC236}">
                <a16:creationId xmlns:a16="http://schemas.microsoft.com/office/drawing/2014/main" id="{E691C32C-8CEA-46FA-836B-963F9FEA4548}"/>
              </a:ext>
            </a:extLst>
          </p:cNvPr>
          <p:cNvSpPr>
            <a:spLocks noGrp="1"/>
          </p:cNvSpPr>
          <p:nvPr>
            <p:ph type="dt" sz="half" idx="10"/>
          </p:nvPr>
        </p:nvSpPr>
        <p:spPr/>
        <p:txBody>
          <a:bodyPr/>
          <a:lstStyle/>
          <a:p>
            <a:fld id="{66A3552B-EA39-418E-A683-718CAF11ED6E}" type="datetimeFigureOut">
              <a:rPr lang="en-US" smtClean="0"/>
              <a:t>1/14/2026</a:t>
            </a:fld>
            <a:endParaRPr lang="en-US"/>
          </a:p>
        </p:txBody>
      </p:sp>
      <p:sp>
        <p:nvSpPr>
          <p:cNvPr id="8" name="Marcador de pie de página 7">
            <a:extLst>
              <a:ext uri="{FF2B5EF4-FFF2-40B4-BE49-F238E27FC236}">
                <a16:creationId xmlns:a16="http://schemas.microsoft.com/office/drawing/2014/main" id="{E023CDC9-B68E-497B-8DE2-ABC513C0FC7C}"/>
              </a:ext>
            </a:extLst>
          </p:cNvPr>
          <p:cNvSpPr>
            <a:spLocks noGrp="1"/>
          </p:cNvSpPr>
          <p:nvPr>
            <p:ph type="ftr" sz="quarter" idx="11"/>
          </p:nvPr>
        </p:nvSpPr>
        <p:spPr/>
        <p:txBody>
          <a:bodyPr/>
          <a:lstStyle/>
          <a:p>
            <a:endParaRPr lang="en-US"/>
          </a:p>
        </p:txBody>
      </p:sp>
      <p:sp>
        <p:nvSpPr>
          <p:cNvPr id="9" name="Marcador de número de diapositiva 8">
            <a:extLst>
              <a:ext uri="{FF2B5EF4-FFF2-40B4-BE49-F238E27FC236}">
                <a16:creationId xmlns:a16="http://schemas.microsoft.com/office/drawing/2014/main" id="{1CE1DF06-56F4-43B6-83EE-C49FB6A2BDD6}"/>
              </a:ext>
            </a:extLst>
          </p:cNvPr>
          <p:cNvSpPr>
            <a:spLocks noGrp="1"/>
          </p:cNvSpPr>
          <p:nvPr>
            <p:ph type="sldNum" sz="quarter" idx="12"/>
          </p:nvPr>
        </p:nvSpPr>
        <p:spPr/>
        <p:txBody>
          <a:bodyPr/>
          <a:lstStyle/>
          <a:p>
            <a:fld id="{0D78D34E-F0E7-4CE0-B98C-DF2CED9D0B3B}" type="slidenum">
              <a:rPr lang="en-US" smtClean="0"/>
              <a:t>‹Nº›</a:t>
            </a:fld>
            <a:endParaRPr lang="en-US"/>
          </a:p>
        </p:txBody>
      </p:sp>
    </p:spTree>
    <p:extLst>
      <p:ext uri="{BB962C8B-B14F-4D97-AF65-F5344CB8AC3E}">
        <p14:creationId xmlns:p14="http://schemas.microsoft.com/office/powerpoint/2010/main" val="4223972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A2F3B8-71D3-4212-BD79-8606867A2C90}"/>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fecha 2">
            <a:extLst>
              <a:ext uri="{FF2B5EF4-FFF2-40B4-BE49-F238E27FC236}">
                <a16:creationId xmlns:a16="http://schemas.microsoft.com/office/drawing/2014/main" id="{AD1494B7-ECCD-4F17-BD62-6CCC4CF495CE}"/>
              </a:ext>
            </a:extLst>
          </p:cNvPr>
          <p:cNvSpPr>
            <a:spLocks noGrp="1"/>
          </p:cNvSpPr>
          <p:nvPr>
            <p:ph type="dt" sz="half" idx="10"/>
          </p:nvPr>
        </p:nvSpPr>
        <p:spPr/>
        <p:txBody>
          <a:bodyPr/>
          <a:lstStyle/>
          <a:p>
            <a:fld id="{66A3552B-EA39-418E-A683-718CAF11ED6E}" type="datetimeFigureOut">
              <a:rPr lang="en-US" smtClean="0"/>
              <a:t>1/14/2026</a:t>
            </a:fld>
            <a:endParaRPr lang="en-US"/>
          </a:p>
        </p:txBody>
      </p:sp>
      <p:sp>
        <p:nvSpPr>
          <p:cNvPr id="4" name="Marcador de pie de página 3">
            <a:extLst>
              <a:ext uri="{FF2B5EF4-FFF2-40B4-BE49-F238E27FC236}">
                <a16:creationId xmlns:a16="http://schemas.microsoft.com/office/drawing/2014/main" id="{F415D6E7-575A-44DA-B83E-B9AE74680D05}"/>
              </a:ext>
            </a:extLst>
          </p:cNvPr>
          <p:cNvSpPr>
            <a:spLocks noGrp="1"/>
          </p:cNvSpPr>
          <p:nvPr>
            <p:ph type="ftr" sz="quarter" idx="11"/>
          </p:nvPr>
        </p:nvSpPr>
        <p:spPr/>
        <p:txBody>
          <a:bodyPr/>
          <a:lstStyle/>
          <a:p>
            <a:endParaRPr lang="en-US"/>
          </a:p>
        </p:txBody>
      </p:sp>
      <p:sp>
        <p:nvSpPr>
          <p:cNvPr id="5" name="Marcador de número de diapositiva 4">
            <a:extLst>
              <a:ext uri="{FF2B5EF4-FFF2-40B4-BE49-F238E27FC236}">
                <a16:creationId xmlns:a16="http://schemas.microsoft.com/office/drawing/2014/main" id="{82F0522B-DBE2-4F83-886B-C4400B7F19C6}"/>
              </a:ext>
            </a:extLst>
          </p:cNvPr>
          <p:cNvSpPr>
            <a:spLocks noGrp="1"/>
          </p:cNvSpPr>
          <p:nvPr>
            <p:ph type="sldNum" sz="quarter" idx="12"/>
          </p:nvPr>
        </p:nvSpPr>
        <p:spPr/>
        <p:txBody>
          <a:bodyPr/>
          <a:lstStyle/>
          <a:p>
            <a:fld id="{0D78D34E-F0E7-4CE0-B98C-DF2CED9D0B3B}" type="slidenum">
              <a:rPr lang="en-US" smtClean="0"/>
              <a:t>‹Nº›</a:t>
            </a:fld>
            <a:endParaRPr lang="en-US"/>
          </a:p>
        </p:txBody>
      </p:sp>
    </p:spTree>
    <p:extLst>
      <p:ext uri="{BB962C8B-B14F-4D97-AF65-F5344CB8AC3E}">
        <p14:creationId xmlns:p14="http://schemas.microsoft.com/office/powerpoint/2010/main" val="2643452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3D6EB01-A730-461E-BC31-FD4A8B49F81B}"/>
              </a:ext>
            </a:extLst>
          </p:cNvPr>
          <p:cNvSpPr>
            <a:spLocks noGrp="1"/>
          </p:cNvSpPr>
          <p:nvPr>
            <p:ph type="dt" sz="half" idx="10"/>
          </p:nvPr>
        </p:nvSpPr>
        <p:spPr/>
        <p:txBody>
          <a:bodyPr/>
          <a:lstStyle/>
          <a:p>
            <a:fld id="{66A3552B-EA39-418E-A683-718CAF11ED6E}" type="datetimeFigureOut">
              <a:rPr lang="en-US" smtClean="0"/>
              <a:t>1/14/2026</a:t>
            </a:fld>
            <a:endParaRPr lang="en-US"/>
          </a:p>
        </p:txBody>
      </p:sp>
      <p:sp>
        <p:nvSpPr>
          <p:cNvPr id="3" name="Marcador de pie de página 2">
            <a:extLst>
              <a:ext uri="{FF2B5EF4-FFF2-40B4-BE49-F238E27FC236}">
                <a16:creationId xmlns:a16="http://schemas.microsoft.com/office/drawing/2014/main" id="{38690D7B-06A0-4466-B762-0F5E0CC3CB0C}"/>
              </a:ext>
            </a:extLst>
          </p:cNvPr>
          <p:cNvSpPr>
            <a:spLocks noGrp="1"/>
          </p:cNvSpPr>
          <p:nvPr>
            <p:ph type="ftr" sz="quarter" idx="11"/>
          </p:nvPr>
        </p:nvSpPr>
        <p:spPr/>
        <p:txBody>
          <a:bodyPr/>
          <a:lstStyle/>
          <a:p>
            <a:endParaRPr lang="en-US"/>
          </a:p>
        </p:txBody>
      </p:sp>
      <p:sp>
        <p:nvSpPr>
          <p:cNvPr id="4" name="Marcador de número de diapositiva 3">
            <a:extLst>
              <a:ext uri="{FF2B5EF4-FFF2-40B4-BE49-F238E27FC236}">
                <a16:creationId xmlns:a16="http://schemas.microsoft.com/office/drawing/2014/main" id="{D865915B-9C2E-4D7F-8DA8-02847277A0DC}"/>
              </a:ext>
            </a:extLst>
          </p:cNvPr>
          <p:cNvSpPr>
            <a:spLocks noGrp="1"/>
          </p:cNvSpPr>
          <p:nvPr>
            <p:ph type="sldNum" sz="quarter" idx="12"/>
          </p:nvPr>
        </p:nvSpPr>
        <p:spPr/>
        <p:txBody>
          <a:bodyPr/>
          <a:lstStyle/>
          <a:p>
            <a:fld id="{0D78D34E-F0E7-4CE0-B98C-DF2CED9D0B3B}" type="slidenum">
              <a:rPr lang="en-US" smtClean="0"/>
              <a:t>‹Nº›</a:t>
            </a:fld>
            <a:endParaRPr lang="en-US"/>
          </a:p>
        </p:txBody>
      </p:sp>
    </p:spTree>
    <p:extLst>
      <p:ext uri="{BB962C8B-B14F-4D97-AF65-F5344CB8AC3E}">
        <p14:creationId xmlns:p14="http://schemas.microsoft.com/office/powerpoint/2010/main" val="4123114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E2882B-6F75-461F-9F52-D84C171ACDB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E9BF3AF1-9571-47AF-BC19-53359F4F1E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texto 3">
            <a:extLst>
              <a:ext uri="{FF2B5EF4-FFF2-40B4-BE49-F238E27FC236}">
                <a16:creationId xmlns:a16="http://schemas.microsoft.com/office/drawing/2014/main" id="{9847F76F-DE14-4B0B-9ED5-E0C85C8837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73B86C6-4FBA-4226-9458-E222A0FAC891}"/>
              </a:ext>
            </a:extLst>
          </p:cNvPr>
          <p:cNvSpPr>
            <a:spLocks noGrp="1"/>
          </p:cNvSpPr>
          <p:nvPr>
            <p:ph type="dt" sz="half" idx="10"/>
          </p:nvPr>
        </p:nvSpPr>
        <p:spPr/>
        <p:txBody>
          <a:bodyPr/>
          <a:lstStyle/>
          <a:p>
            <a:fld id="{66A3552B-EA39-418E-A683-718CAF11ED6E}" type="datetimeFigureOut">
              <a:rPr lang="en-US" smtClean="0"/>
              <a:t>1/14/2026</a:t>
            </a:fld>
            <a:endParaRPr lang="en-US"/>
          </a:p>
        </p:txBody>
      </p:sp>
      <p:sp>
        <p:nvSpPr>
          <p:cNvPr id="6" name="Marcador de pie de página 5">
            <a:extLst>
              <a:ext uri="{FF2B5EF4-FFF2-40B4-BE49-F238E27FC236}">
                <a16:creationId xmlns:a16="http://schemas.microsoft.com/office/drawing/2014/main" id="{90EF81BA-EC1B-408A-A382-113F2CB71659}"/>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1D6D2144-7869-4D4D-8394-ABAA629E764C}"/>
              </a:ext>
            </a:extLst>
          </p:cNvPr>
          <p:cNvSpPr>
            <a:spLocks noGrp="1"/>
          </p:cNvSpPr>
          <p:nvPr>
            <p:ph type="sldNum" sz="quarter" idx="12"/>
          </p:nvPr>
        </p:nvSpPr>
        <p:spPr/>
        <p:txBody>
          <a:bodyPr/>
          <a:lstStyle/>
          <a:p>
            <a:fld id="{0D78D34E-F0E7-4CE0-B98C-DF2CED9D0B3B}" type="slidenum">
              <a:rPr lang="en-US" smtClean="0"/>
              <a:t>‹Nº›</a:t>
            </a:fld>
            <a:endParaRPr lang="en-US"/>
          </a:p>
        </p:txBody>
      </p:sp>
    </p:spTree>
    <p:extLst>
      <p:ext uri="{BB962C8B-B14F-4D97-AF65-F5344CB8AC3E}">
        <p14:creationId xmlns:p14="http://schemas.microsoft.com/office/powerpoint/2010/main" val="3998598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656BF5-B515-498B-8426-88213F9269B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posición de imagen 2">
            <a:extLst>
              <a:ext uri="{FF2B5EF4-FFF2-40B4-BE49-F238E27FC236}">
                <a16:creationId xmlns:a16="http://schemas.microsoft.com/office/drawing/2014/main" id="{B5930841-A03D-47DC-B161-2735A35ADD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Marcador de texto 3">
            <a:extLst>
              <a:ext uri="{FF2B5EF4-FFF2-40B4-BE49-F238E27FC236}">
                <a16:creationId xmlns:a16="http://schemas.microsoft.com/office/drawing/2014/main" id="{6B17E57E-A89D-49B4-8994-57646CA90B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02B103D-5E20-4E00-BABD-A051C83F3406}"/>
              </a:ext>
            </a:extLst>
          </p:cNvPr>
          <p:cNvSpPr>
            <a:spLocks noGrp="1"/>
          </p:cNvSpPr>
          <p:nvPr>
            <p:ph type="dt" sz="half" idx="10"/>
          </p:nvPr>
        </p:nvSpPr>
        <p:spPr/>
        <p:txBody>
          <a:bodyPr/>
          <a:lstStyle/>
          <a:p>
            <a:fld id="{66A3552B-EA39-418E-A683-718CAF11ED6E}" type="datetimeFigureOut">
              <a:rPr lang="en-US" smtClean="0"/>
              <a:t>1/14/2026</a:t>
            </a:fld>
            <a:endParaRPr lang="en-US"/>
          </a:p>
        </p:txBody>
      </p:sp>
      <p:sp>
        <p:nvSpPr>
          <p:cNvPr id="6" name="Marcador de pie de página 5">
            <a:extLst>
              <a:ext uri="{FF2B5EF4-FFF2-40B4-BE49-F238E27FC236}">
                <a16:creationId xmlns:a16="http://schemas.microsoft.com/office/drawing/2014/main" id="{AD8125A9-30EB-4641-BF22-57C2550DC2CC}"/>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455E9749-2E4C-48AC-8ACE-684DE57E37CB}"/>
              </a:ext>
            </a:extLst>
          </p:cNvPr>
          <p:cNvSpPr>
            <a:spLocks noGrp="1"/>
          </p:cNvSpPr>
          <p:nvPr>
            <p:ph type="sldNum" sz="quarter" idx="12"/>
          </p:nvPr>
        </p:nvSpPr>
        <p:spPr/>
        <p:txBody>
          <a:bodyPr/>
          <a:lstStyle/>
          <a:p>
            <a:fld id="{0D78D34E-F0E7-4CE0-B98C-DF2CED9D0B3B}" type="slidenum">
              <a:rPr lang="en-US" smtClean="0"/>
              <a:t>‹Nº›</a:t>
            </a:fld>
            <a:endParaRPr lang="en-US"/>
          </a:p>
        </p:txBody>
      </p:sp>
    </p:spTree>
    <p:extLst>
      <p:ext uri="{BB962C8B-B14F-4D97-AF65-F5344CB8AC3E}">
        <p14:creationId xmlns:p14="http://schemas.microsoft.com/office/powerpoint/2010/main" val="37386221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60161E-5488-427B-AAE5-49B7EF8AC672}"/>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122BA123-6B9C-434F-A8FF-6A2DE737E4FC}"/>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DDCB5D68-114D-4C05-AA0F-801E3DB91B62}"/>
              </a:ext>
            </a:extLst>
          </p:cNvPr>
          <p:cNvSpPr>
            <a:spLocks noGrp="1"/>
          </p:cNvSpPr>
          <p:nvPr>
            <p:ph type="dt" sz="half" idx="10"/>
          </p:nvPr>
        </p:nvSpPr>
        <p:spPr/>
        <p:txBody>
          <a:bodyPr/>
          <a:lstStyle/>
          <a:p>
            <a:fld id="{66A3552B-EA39-418E-A683-718CAF11ED6E}" type="datetimeFigureOut">
              <a:rPr lang="en-US" smtClean="0"/>
              <a:t>1/14/2026</a:t>
            </a:fld>
            <a:endParaRPr lang="en-US"/>
          </a:p>
        </p:txBody>
      </p:sp>
      <p:sp>
        <p:nvSpPr>
          <p:cNvPr id="5" name="Marcador de pie de página 4">
            <a:extLst>
              <a:ext uri="{FF2B5EF4-FFF2-40B4-BE49-F238E27FC236}">
                <a16:creationId xmlns:a16="http://schemas.microsoft.com/office/drawing/2014/main" id="{CC844214-F23B-4854-84A9-5A64CF7EAD74}"/>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4B4BB8DC-028D-4D79-A6AB-F8ECA7DE237D}"/>
              </a:ext>
            </a:extLst>
          </p:cNvPr>
          <p:cNvSpPr>
            <a:spLocks noGrp="1"/>
          </p:cNvSpPr>
          <p:nvPr>
            <p:ph type="sldNum" sz="quarter" idx="12"/>
          </p:nvPr>
        </p:nvSpPr>
        <p:spPr/>
        <p:txBody>
          <a:bodyPr/>
          <a:lstStyle/>
          <a:p>
            <a:fld id="{0D78D34E-F0E7-4CE0-B98C-DF2CED9D0B3B}" type="slidenum">
              <a:rPr lang="en-US" smtClean="0"/>
              <a:t>‹Nº›</a:t>
            </a:fld>
            <a:endParaRPr lang="en-US"/>
          </a:p>
        </p:txBody>
      </p:sp>
    </p:spTree>
    <p:extLst>
      <p:ext uri="{BB962C8B-B14F-4D97-AF65-F5344CB8AC3E}">
        <p14:creationId xmlns:p14="http://schemas.microsoft.com/office/powerpoint/2010/main" val="1391953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DDB326E-A78A-46E9-8FB6-27E55E28C969}"/>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ABFBD97C-26B2-46A2-BFB0-A3E66F67437F}"/>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9B66A517-E33B-4F3C-9B4D-48C3FE20BBC0}"/>
              </a:ext>
            </a:extLst>
          </p:cNvPr>
          <p:cNvSpPr>
            <a:spLocks noGrp="1"/>
          </p:cNvSpPr>
          <p:nvPr>
            <p:ph type="dt" sz="half" idx="10"/>
          </p:nvPr>
        </p:nvSpPr>
        <p:spPr/>
        <p:txBody>
          <a:bodyPr/>
          <a:lstStyle/>
          <a:p>
            <a:fld id="{66A3552B-EA39-418E-A683-718CAF11ED6E}" type="datetimeFigureOut">
              <a:rPr lang="en-US" smtClean="0"/>
              <a:t>1/14/2026</a:t>
            </a:fld>
            <a:endParaRPr lang="en-US"/>
          </a:p>
        </p:txBody>
      </p:sp>
      <p:sp>
        <p:nvSpPr>
          <p:cNvPr id="5" name="Marcador de pie de página 4">
            <a:extLst>
              <a:ext uri="{FF2B5EF4-FFF2-40B4-BE49-F238E27FC236}">
                <a16:creationId xmlns:a16="http://schemas.microsoft.com/office/drawing/2014/main" id="{E1945692-2600-4949-9402-F80D9C4B1DBB}"/>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8A10B5C6-D573-48D5-8507-4E31A07EA41F}"/>
              </a:ext>
            </a:extLst>
          </p:cNvPr>
          <p:cNvSpPr>
            <a:spLocks noGrp="1"/>
          </p:cNvSpPr>
          <p:nvPr>
            <p:ph type="sldNum" sz="quarter" idx="12"/>
          </p:nvPr>
        </p:nvSpPr>
        <p:spPr/>
        <p:txBody>
          <a:bodyPr/>
          <a:lstStyle/>
          <a:p>
            <a:fld id="{0D78D34E-F0E7-4CE0-B98C-DF2CED9D0B3B}" type="slidenum">
              <a:rPr lang="en-US" smtClean="0"/>
              <a:t>‹Nº›</a:t>
            </a:fld>
            <a:endParaRPr lang="en-US"/>
          </a:p>
        </p:txBody>
      </p:sp>
    </p:spTree>
    <p:extLst>
      <p:ext uri="{BB962C8B-B14F-4D97-AF65-F5344CB8AC3E}">
        <p14:creationId xmlns:p14="http://schemas.microsoft.com/office/powerpoint/2010/main" val="1254520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C524535-5908-4985-9C78-D1629B6C83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ECA0D52B-C84E-4AAC-9545-7FCBB9A1B6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54A640C8-B67D-478B-B424-632941897C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A3552B-EA39-418E-A683-718CAF11ED6E}" type="datetimeFigureOut">
              <a:rPr lang="en-US" smtClean="0"/>
              <a:t>1/14/2026</a:t>
            </a:fld>
            <a:endParaRPr lang="en-US"/>
          </a:p>
        </p:txBody>
      </p:sp>
      <p:sp>
        <p:nvSpPr>
          <p:cNvPr id="5" name="Marcador de pie de página 4">
            <a:extLst>
              <a:ext uri="{FF2B5EF4-FFF2-40B4-BE49-F238E27FC236}">
                <a16:creationId xmlns:a16="http://schemas.microsoft.com/office/drawing/2014/main" id="{C07BDA31-E397-4268-AC4D-34B9C55B39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Marcador de número de diapositiva 5">
            <a:extLst>
              <a:ext uri="{FF2B5EF4-FFF2-40B4-BE49-F238E27FC236}">
                <a16:creationId xmlns:a16="http://schemas.microsoft.com/office/drawing/2014/main" id="{912F9812-E967-4AFB-A96F-CFC1C2CC52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78D34E-F0E7-4CE0-B98C-DF2CED9D0B3B}" type="slidenum">
              <a:rPr lang="en-US" smtClean="0"/>
              <a:t>‹Nº›</a:t>
            </a:fld>
            <a:endParaRPr lang="en-US"/>
          </a:p>
        </p:txBody>
      </p:sp>
    </p:spTree>
    <p:extLst>
      <p:ext uri="{BB962C8B-B14F-4D97-AF65-F5344CB8AC3E}">
        <p14:creationId xmlns:p14="http://schemas.microsoft.com/office/powerpoint/2010/main" val="33074244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jp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14.jpeg"/><Relationship Id="rId13" Type="http://schemas.openxmlformats.org/officeDocument/2006/relationships/image" Target="../media/image19.jpg"/><Relationship Id="rId3" Type="http://schemas.openxmlformats.org/officeDocument/2006/relationships/image" Target="../media/image9.jpeg"/><Relationship Id="rId7" Type="http://schemas.openxmlformats.org/officeDocument/2006/relationships/image" Target="../media/image13.jpeg"/><Relationship Id="rId12" Type="http://schemas.openxmlformats.org/officeDocument/2006/relationships/image" Target="../media/image18.jpg"/><Relationship Id="rId2" Type="http://schemas.openxmlformats.org/officeDocument/2006/relationships/image" Target="../media/image8.jpeg"/><Relationship Id="rId1" Type="http://schemas.openxmlformats.org/officeDocument/2006/relationships/slideLayout" Target="../slideLayouts/slideLayout2.xml"/><Relationship Id="rId6" Type="http://schemas.openxmlformats.org/officeDocument/2006/relationships/image" Target="../media/image12.jpeg"/><Relationship Id="rId11" Type="http://schemas.openxmlformats.org/officeDocument/2006/relationships/image" Target="../media/image17.jpg"/><Relationship Id="rId5" Type="http://schemas.openxmlformats.org/officeDocument/2006/relationships/image" Target="../media/image11.jpeg"/><Relationship Id="rId10" Type="http://schemas.openxmlformats.org/officeDocument/2006/relationships/image" Target="../media/image16.jpg"/><Relationship Id="rId4" Type="http://schemas.openxmlformats.org/officeDocument/2006/relationships/image" Target="../media/image10.jpeg"/><Relationship Id="rId9" Type="http://schemas.openxmlformats.org/officeDocument/2006/relationships/image" Target="../media/image15.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792E46E4-4EF3-4A1F-B04D-499995B9984B}"/>
              </a:ext>
            </a:extLst>
          </p:cNvPr>
          <p:cNvSpPr txBox="1"/>
          <p:nvPr/>
        </p:nvSpPr>
        <p:spPr>
          <a:xfrm>
            <a:off x="345142" y="2082261"/>
            <a:ext cx="11501716" cy="4052904"/>
          </a:xfrm>
          <a:prstGeom prst="rect">
            <a:avLst/>
          </a:prstGeom>
          <a:noFill/>
        </p:spPr>
        <p:txBody>
          <a:bodyPr wrap="square">
            <a:spAutoFit/>
          </a:bodyPr>
          <a:lstStyle/>
          <a:p>
            <a:pPr algn="ctr">
              <a:lnSpc>
                <a:spcPct val="107000"/>
              </a:lnSpc>
              <a:spcAft>
                <a:spcPts val="800"/>
              </a:spcAft>
            </a:pPr>
            <a:r>
              <a:rPr lang="es-MX" sz="4800" dirty="0">
                <a:effectLst/>
                <a:latin typeface="Times New Roman" panose="02020603050405020304" pitchFamily="18" charset="0"/>
                <a:ea typeface="Calibri" panose="020F0502020204030204" pitchFamily="34" charset="0"/>
                <a:cs typeface="Times New Roman" panose="02020603050405020304" pitchFamily="18" charset="0"/>
              </a:rPr>
              <a:t>Proyecto de Final de Curso de Visión Computacional Distribuida</a:t>
            </a:r>
          </a:p>
          <a:p>
            <a:pPr algn="ctr">
              <a:lnSpc>
                <a:spcPct val="107000"/>
              </a:lnSpc>
              <a:spcAft>
                <a:spcPts val="800"/>
              </a:spcAft>
            </a:pPr>
            <a:endParaRPr lang="es-MX" sz="4800"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7000"/>
              </a:lnSpc>
              <a:spcAft>
                <a:spcPts val="800"/>
              </a:spcAft>
            </a:pPr>
            <a:endParaRPr lang="en-US" sz="48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7000"/>
              </a:lnSpc>
              <a:spcAft>
                <a:spcPts val="800"/>
              </a:spcAft>
            </a:pPr>
            <a:r>
              <a:rPr lang="es-MX" sz="3200" dirty="0">
                <a:effectLst/>
                <a:latin typeface="Times New Roman" panose="02020603050405020304" pitchFamily="18" charset="0"/>
                <a:ea typeface="Calibri" panose="020F0502020204030204" pitchFamily="34" charset="0"/>
                <a:cs typeface="Times New Roman" panose="02020603050405020304" pitchFamily="18" charset="0"/>
              </a:rPr>
              <a:t>Luis Antonio Selis Vasquez</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67116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74B484A-AC96-49E7-B60F-79977113E124}"/>
              </a:ext>
            </a:extLst>
          </p:cNvPr>
          <p:cNvSpPr>
            <a:spLocks noChangeArrowheads="1"/>
          </p:cNvSpPr>
          <p:nvPr/>
        </p:nvSpPr>
        <p:spPr bwMode="auto">
          <a:xfrm>
            <a:off x="422064" y="2469620"/>
            <a:ext cx="10248062" cy="3739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PE" altLang="en-US" sz="20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Cambio de brillo:</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gamma = </a:t>
            </a:r>
            <a:r>
              <a:rPr kumimoji="0" lang="en-US" altLang="en-US" sz="2000" b="1" i="0" u="none" strike="noStrike" cap="none" normalizeH="0" baseline="0" dirty="0">
                <a:ln>
                  <a:noFill/>
                </a:ln>
                <a:solidFill>
                  <a:srgbClr val="6600EE"/>
                </a:solidFill>
                <a:effectLst/>
                <a:latin typeface="Times New Roman" panose="02020603050405020304" pitchFamily="18" charset="0"/>
                <a:ea typeface="Times New Roman" panose="02020603050405020304" pitchFamily="18" charset="0"/>
                <a:cs typeface="Times New Roman" panose="02020603050405020304" pitchFamily="18" charset="0"/>
              </a:rPr>
              <a:t>2.4</a:t>
            </a:r>
            <a:endParaRPr kumimoji="0" lang="en-US" altLang="en-US" sz="20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lookUpTable</a:t>
            </a:r>
            <a:r>
              <a:rPr kumimoji="0" lang="en-US" altLang="en-US" sz="20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 </a:t>
            </a:r>
            <a:r>
              <a:rPr kumimoji="0" lang="en-US" altLang="en-US" sz="2000" b="0" i="0" u="none" strike="noStrike" cap="none" normalizeH="0" baseline="0" dirty="0" err="1">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np.array</a:t>
            </a:r>
            <a:r>
              <a:rPr kumimoji="0" lang="en-US" altLang="en-US" sz="20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([((i / </a:t>
            </a:r>
            <a:r>
              <a:rPr kumimoji="0" lang="en-US" altLang="en-US" sz="2000" b="1" i="0" u="none" strike="noStrike" cap="none" normalizeH="0" baseline="0" dirty="0">
                <a:ln>
                  <a:noFill/>
                </a:ln>
                <a:solidFill>
                  <a:srgbClr val="6600EE"/>
                </a:solidFill>
                <a:effectLst/>
                <a:latin typeface="Times New Roman" panose="02020603050405020304" pitchFamily="18" charset="0"/>
                <a:ea typeface="Times New Roman" panose="02020603050405020304" pitchFamily="18" charset="0"/>
                <a:cs typeface="Times New Roman" panose="02020603050405020304" pitchFamily="18" charset="0"/>
              </a:rPr>
              <a:t>255.0</a:t>
            </a:r>
            <a:r>
              <a:rPr kumimoji="0" lang="en-US" altLang="en-US" sz="20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 gamma) * </a:t>
            </a:r>
            <a:r>
              <a:rPr kumimoji="0" lang="en-US" altLang="en-US" sz="2000" b="1" i="0" u="none" strike="noStrike" cap="none" normalizeH="0" baseline="0" dirty="0">
                <a:ln>
                  <a:noFill/>
                </a:ln>
                <a:solidFill>
                  <a:srgbClr val="0000DD"/>
                </a:solidFill>
                <a:effectLst/>
                <a:latin typeface="Times New Roman" panose="02020603050405020304" pitchFamily="18" charset="0"/>
                <a:ea typeface="Times New Roman" panose="02020603050405020304" pitchFamily="18" charset="0"/>
                <a:cs typeface="Times New Roman" panose="02020603050405020304" pitchFamily="18" charset="0"/>
              </a:rPr>
              <a:t>255</a:t>
            </a:r>
            <a:r>
              <a:rPr kumimoji="0" lang="en-US" altLang="en-US" sz="20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rgbClr val="008800"/>
                </a:solidFill>
                <a:effectLst/>
                <a:latin typeface="Times New Roman" panose="02020603050405020304" pitchFamily="18" charset="0"/>
                <a:ea typeface="Times New Roman" panose="02020603050405020304" pitchFamily="18" charset="0"/>
                <a:cs typeface="Times New Roman" panose="02020603050405020304" pitchFamily="18" charset="0"/>
              </a:rPr>
              <a:t>for</a:t>
            </a:r>
            <a:r>
              <a:rPr kumimoji="0" lang="en-US" altLang="en-US" sz="20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i </a:t>
            </a:r>
            <a:r>
              <a:rPr kumimoji="0" lang="en-US" altLang="en-US" sz="2000" b="1"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a:t>
            </a:r>
            <a:r>
              <a:rPr kumimoji="0" lang="en-US" altLang="en-US" sz="20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np.arange</a:t>
            </a:r>
            <a:r>
              <a:rPr kumimoji="0" lang="en-US" altLang="en-US" sz="20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kumimoji="0" lang="en-US" altLang="en-US" sz="2000" b="1" i="0" u="none" strike="noStrike" cap="none" normalizeH="0" baseline="0" dirty="0">
                <a:ln>
                  <a:noFill/>
                </a:ln>
                <a:solidFill>
                  <a:srgbClr val="0000DD"/>
                </a:solidFill>
                <a:effectLst/>
                <a:latin typeface="Times New Roman" panose="02020603050405020304" pitchFamily="18" charset="0"/>
                <a:ea typeface="Times New Roman" panose="02020603050405020304" pitchFamily="18" charset="0"/>
                <a:cs typeface="Times New Roman" panose="02020603050405020304" pitchFamily="18" charset="0"/>
              </a:rPr>
              <a:t>0</a:t>
            </a:r>
            <a:r>
              <a:rPr kumimoji="0" lang="en-US" altLang="en-US" sz="20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rgbClr val="0000DD"/>
                </a:solidFill>
                <a:effectLst/>
                <a:latin typeface="Times New Roman" panose="02020603050405020304" pitchFamily="18" charset="0"/>
                <a:ea typeface="Times New Roman" panose="02020603050405020304" pitchFamily="18" charset="0"/>
                <a:cs typeface="Times New Roman" panose="02020603050405020304" pitchFamily="18" charset="0"/>
              </a:rPr>
              <a:t>256</a:t>
            </a:r>
            <a:r>
              <a:rPr kumimoji="0" lang="en-US" altLang="en-US" sz="20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kumimoji="0" lang="en-US" altLang="en-US" sz="2000" b="0" i="0" u="none" strike="noStrike" cap="none" normalizeH="0" baseline="0" dirty="0" err="1">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astype</a:t>
            </a:r>
            <a:r>
              <a:rPr kumimoji="0" lang="en-US" altLang="en-US" sz="20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("uint8")</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img</a:t>
            </a:r>
            <a:r>
              <a:rPr kumimoji="0" lang="en-US" altLang="en-US" sz="20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 cv2.LUT(</a:t>
            </a:r>
            <a:r>
              <a:rPr kumimoji="0" lang="en-US" altLang="en-US" sz="2000" b="0" i="0" u="none" strike="noStrike" cap="none" normalizeH="0" baseline="0" dirty="0" err="1">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img</a:t>
            </a:r>
            <a:r>
              <a:rPr kumimoji="0" lang="en-US" altLang="en-US" sz="20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lookUpTable</a:t>
            </a:r>
            <a:r>
              <a:rPr kumimoji="0" lang="en-US" altLang="en-US" sz="20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PE" altLang="en-US" sz="20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gray = cv2.cvtColor(</a:t>
            </a:r>
            <a:r>
              <a:rPr kumimoji="0" lang="es-PE" altLang="en-US" sz="2000" b="0" i="0" u="none" strike="noStrike" cap="none" normalizeH="0" baseline="0" dirty="0" err="1">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img</a:t>
            </a:r>
            <a:r>
              <a:rPr kumimoji="0" lang="es-PE" altLang="en-US" sz="20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cv2.COLOR_BGR2GRAY) </a:t>
            </a:r>
          </a:p>
          <a:p>
            <a:pPr marL="0" marR="0" lvl="0" indent="0" algn="l" defTabSz="914400" rtl="0" eaLnBrk="0" fontAlgn="base" latinLnBrk="0" hangingPunct="0">
              <a:lnSpc>
                <a:spcPct val="100000"/>
              </a:lnSpc>
              <a:spcBef>
                <a:spcPct val="0"/>
              </a:spcBef>
              <a:spcAft>
                <a:spcPct val="0"/>
              </a:spcAft>
              <a:buClrTx/>
              <a:buSzTx/>
              <a:buFontTx/>
              <a:buNone/>
              <a:tabLst/>
            </a:pPr>
            <a:endParaRPr lang="es-PE" altLang="en-US"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s-PE" altLang="en-US"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Cambio de tamaño: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PE" altLang="en-US" sz="20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scaled = cv2.resize(gray, </a:t>
            </a:r>
            <a:r>
              <a:rPr kumimoji="0" lang="en-US" altLang="en-US" sz="2000" b="1" i="0" u="none" strike="noStrike" cap="none" normalizeH="0" baseline="0" dirty="0">
                <a:ln>
                  <a:noFill/>
                </a:ln>
                <a:solidFill>
                  <a:srgbClr val="008800"/>
                </a:solidFill>
                <a:effectLst/>
                <a:latin typeface="Times New Roman" panose="02020603050405020304" pitchFamily="18" charset="0"/>
                <a:ea typeface="Times New Roman" panose="02020603050405020304" pitchFamily="18" charset="0"/>
                <a:cs typeface="Times New Roman" panose="02020603050405020304" pitchFamily="18" charset="0"/>
              </a:rPr>
              <a:t>None</a:t>
            </a:r>
            <a:r>
              <a:rPr kumimoji="0" lang="en-US" altLang="en-US" sz="20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fx=</a:t>
            </a:r>
            <a:r>
              <a:rPr kumimoji="0" lang="en-US" altLang="en-US" sz="2000" b="1" i="0" u="none" strike="noStrike" cap="none" normalizeH="0" baseline="0" dirty="0">
                <a:ln>
                  <a:noFill/>
                </a:ln>
                <a:solidFill>
                  <a:srgbClr val="6600EE"/>
                </a:solidFill>
                <a:effectLst/>
                <a:latin typeface="Times New Roman" panose="02020603050405020304" pitchFamily="18" charset="0"/>
                <a:ea typeface="Times New Roman" panose="02020603050405020304" pitchFamily="18" charset="0"/>
                <a:cs typeface="Times New Roman" panose="02020603050405020304" pitchFamily="18" charset="0"/>
              </a:rPr>
              <a:t>1.5</a:t>
            </a:r>
            <a:r>
              <a:rPr kumimoji="0" lang="en-US" altLang="en-US" sz="20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fy=</a:t>
            </a:r>
            <a:r>
              <a:rPr kumimoji="0" lang="en-US" altLang="en-US" sz="2000" b="1" i="0" u="none" strike="noStrike" cap="none" normalizeH="0" baseline="0" dirty="0">
                <a:ln>
                  <a:noFill/>
                </a:ln>
                <a:solidFill>
                  <a:srgbClr val="6600EE"/>
                </a:solidFill>
                <a:effectLst/>
                <a:latin typeface="Times New Roman" panose="02020603050405020304" pitchFamily="18" charset="0"/>
                <a:ea typeface="Times New Roman" panose="02020603050405020304" pitchFamily="18" charset="0"/>
                <a:cs typeface="Times New Roman" panose="02020603050405020304" pitchFamily="18" charset="0"/>
              </a:rPr>
              <a:t>1.5</a:t>
            </a:r>
            <a:r>
              <a:rPr kumimoji="0" lang="en-US" altLang="en-US" sz="20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interpolation=cv2.INTER_LINEAR)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f_scaled</a:t>
            </a:r>
            <a:r>
              <a:rPr kumimoji="0" lang="en-US" altLang="en-US" sz="20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 classifier2.detectMultiScale(scaled, </a:t>
            </a:r>
            <a:r>
              <a:rPr kumimoji="0" lang="en-US" altLang="en-US" sz="2000" b="0" i="0" u="none" strike="noStrike" cap="none" normalizeH="0" baseline="0" dirty="0" err="1">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minNeighbors</a:t>
            </a:r>
            <a:r>
              <a:rPr kumimoji="0" lang="en-US" altLang="en-US" sz="20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kumimoji="0" lang="en-US" altLang="en-US" sz="2000" b="1" i="0" u="none" strike="noStrike" cap="none" normalizeH="0" baseline="0" dirty="0">
                <a:ln>
                  <a:noFill/>
                </a:ln>
                <a:solidFill>
                  <a:srgbClr val="0000DD"/>
                </a:solidFill>
                <a:effectLst/>
                <a:latin typeface="Times New Roman" panose="02020603050405020304" pitchFamily="18" charset="0"/>
                <a:ea typeface="Times New Roman" panose="02020603050405020304" pitchFamily="18" charset="0"/>
                <a:cs typeface="Times New Roman" panose="02020603050405020304" pitchFamily="18" charset="0"/>
              </a:rPr>
              <a:t>4</a:t>
            </a:r>
            <a:r>
              <a:rPr kumimoji="0" lang="en-US" altLang="en-US" sz="20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faces4 = [(</a:t>
            </a:r>
            <a:r>
              <a:rPr kumimoji="0" lang="en-US" altLang="en-US" sz="2000" b="0" i="0" u="none" strike="noStrike" cap="none" normalizeH="0" baseline="0" dirty="0">
                <a:ln>
                  <a:noFill/>
                </a:ln>
                <a:solidFill>
                  <a:srgbClr val="007020"/>
                </a:solidFill>
                <a:effectLst/>
                <a:latin typeface="Times New Roman" panose="02020603050405020304" pitchFamily="18" charset="0"/>
                <a:ea typeface="Times New Roman" panose="02020603050405020304" pitchFamily="18" charset="0"/>
                <a:cs typeface="Times New Roman" panose="02020603050405020304" pitchFamily="18" charset="0"/>
              </a:rPr>
              <a:t>int</a:t>
            </a:r>
            <a:r>
              <a:rPr kumimoji="0" lang="en-US" altLang="en-US" sz="20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(x/</a:t>
            </a:r>
            <a:r>
              <a:rPr kumimoji="0" lang="en-US" altLang="en-US" sz="2000" b="1" i="0" u="none" strike="noStrike" cap="none" normalizeH="0" baseline="0" dirty="0">
                <a:ln>
                  <a:noFill/>
                </a:ln>
                <a:solidFill>
                  <a:srgbClr val="6600EE"/>
                </a:solidFill>
                <a:effectLst/>
                <a:latin typeface="Times New Roman" panose="02020603050405020304" pitchFamily="18" charset="0"/>
                <a:ea typeface="Times New Roman" panose="02020603050405020304" pitchFamily="18" charset="0"/>
                <a:cs typeface="Times New Roman" panose="02020603050405020304" pitchFamily="18" charset="0"/>
              </a:rPr>
              <a:t>1.5</a:t>
            </a:r>
            <a:r>
              <a:rPr kumimoji="0" lang="en-US" altLang="en-US" sz="20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7020"/>
                </a:solidFill>
                <a:effectLst/>
                <a:latin typeface="Times New Roman" panose="02020603050405020304" pitchFamily="18" charset="0"/>
                <a:ea typeface="Times New Roman" panose="02020603050405020304" pitchFamily="18" charset="0"/>
                <a:cs typeface="Times New Roman" panose="02020603050405020304" pitchFamily="18" charset="0"/>
              </a:rPr>
              <a:t>int</a:t>
            </a:r>
            <a:r>
              <a:rPr kumimoji="0" lang="en-US" altLang="en-US" sz="20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(y/</a:t>
            </a:r>
            <a:r>
              <a:rPr kumimoji="0" lang="en-US" altLang="en-US" sz="2000" b="1" i="0" u="none" strike="noStrike" cap="none" normalizeH="0" baseline="0" dirty="0">
                <a:ln>
                  <a:noFill/>
                </a:ln>
                <a:solidFill>
                  <a:srgbClr val="6600EE"/>
                </a:solidFill>
                <a:effectLst/>
                <a:latin typeface="Times New Roman" panose="02020603050405020304" pitchFamily="18" charset="0"/>
                <a:ea typeface="Times New Roman" panose="02020603050405020304" pitchFamily="18" charset="0"/>
                <a:cs typeface="Times New Roman" panose="02020603050405020304" pitchFamily="18" charset="0"/>
              </a:rPr>
              <a:t>1.5</a:t>
            </a:r>
            <a:r>
              <a:rPr kumimoji="0" lang="en-US" altLang="en-US" sz="20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7020"/>
                </a:solidFill>
                <a:effectLst/>
                <a:latin typeface="Times New Roman" panose="02020603050405020304" pitchFamily="18" charset="0"/>
                <a:ea typeface="Times New Roman" panose="02020603050405020304" pitchFamily="18" charset="0"/>
                <a:cs typeface="Times New Roman" panose="02020603050405020304" pitchFamily="18" charset="0"/>
              </a:rPr>
              <a:t>int</a:t>
            </a:r>
            <a:r>
              <a:rPr kumimoji="0" lang="en-US" altLang="en-US" sz="20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(w/</a:t>
            </a:r>
            <a:r>
              <a:rPr kumimoji="0" lang="en-US" altLang="en-US" sz="2000" b="1" i="0" u="none" strike="noStrike" cap="none" normalizeH="0" baseline="0" dirty="0">
                <a:ln>
                  <a:noFill/>
                </a:ln>
                <a:solidFill>
                  <a:srgbClr val="6600EE"/>
                </a:solidFill>
                <a:effectLst/>
                <a:latin typeface="Times New Roman" panose="02020603050405020304" pitchFamily="18" charset="0"/>
                <a:ea typeface="Times New Roman" panose="02020603050405020304" pitchFamily="18" charset="0"/>
                <a:cs typeface="Times New Roman" panose="02020603050405020304" pitchFamily="18" charset="0"/>
              </a:rPr>
              <a:t>1.5</a:t>
            </a:r>
            <a:r>
              <a:rPr kumimoji="0" lang="en-US" altLang="en-US" sz="20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7020"/>
                </a:solidFill>
                <a:effectLst/>
                <a:latin typeface="Times New Roman" panose="02020603050405020304" pitchFamily="18" charset="0"/>
                <a:ea typeface="Times New Roman" panose="02020603050405020304" pitchFamily="18" charset="0"/>
                <a:cs typeface="Times New Roman" panose="02020603050405020304" pitchFamily="18" charset="0"/>
              </a:rPr>
              <a:t>int</a:t>
            </a:r>
            <a:r>
              <a:rPr kumimoji="0" lang="en-US" altLang="en-US" sz="20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(h/</a:t>
            </a:r>
            <a:r>
              <a:rPr kumimoji="0" lang="en-US" altLang="en-US" sz="2000" b="1" i="0" u="none" strike="noStrike" cap="none" normalizeH="0" baseline="0" dirty="0">
                <a:ln>
                  <a:noFill/>
                </a:ln>
                <a:solidFill>
                  <a:srgbClr val="6600EE"/>
                </a:solidFill>
                <a:effectLst/>
                <a:latin typeface="Times New Roman" panose="02020603050405020304" pitchFamily="18" charset="0"/>
                <a:ea typeface="Times New Roman" panose="02020603050405020304" pitchFamily="18" charset="0"/>
                <a:cs typeface="Times New Roman" panose="02020603050405020304" pitchFamily="18" charset="0"/>
              </a:rPr>
              <a:t>1.5</a:t>
            </a:r>
            <a:r>
              <a:rPr kumimoji="0" lang="en-US" altLang="en-US" sz="20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rgbClr val="008800"/>
                </a:solidFill>
                <a:effectLst/>
                <a:latin typeface="Times New Roman" panose="02020603050405020304" pitchFamily="18" charset="0"/>
                <a:ea typeface="Times New Roman" panose="02020603050405020304" pitchFamily="18" charset="0"/>
                <a:cs typeface="Times New Roman" panose="02020603050405020304" pitchFamily="18" charset="0"/>
              </a:rPr>
              <a:t>for</a:t>
            </a:r>
            <a:r>
              <a:rPr kumimoji="0" lang="en-US" altLang="en-US" sz="20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(x, y, w, h) </a:t>
            </a:r>
            <a:r>
              <a:rPr kumimoji="0" lang="en-US" altLang="en-US" sz="2000" b="1"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a:t>
            </a:r>
            <a:r>
              <a:rPr kumimoji="0" lang="en-US" altLang="en-US" sz="20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f_scaled</a:t>
            </a:r>
            <a:r>
              <a:rPr kumimoji="0" lang="en-US" altLang="en-US" sz="20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3" name="CuadroTexto 2">
            <a:extLst>
              <a:ext uri="{FF2B5EF4-FFF2-40B4-BE49-F238E27FC236}">
                <a16:creationId xmlns:a16="http://schemas.microsoft.com/office/drawing/2014/main" id="{3DDA61F6-C734-4889-BE7D-BB9E7E43FC95}"/>
              </a:ext>
            </a:extLst>
          </p:cNvPr>
          <p:cNvSpPr txBox="1"/>
          <p:nvPr/>
        </p:nvSpPr>
        <p:spPr>
          <a:xfrm>
            <a:off x="4657725" y="133350"/>
            <a:ext cx="2754280" cy="523220"/>
          </a:xfrm>
          <a:prstGeom prst="rect">
            <a:avLst/>
          </a:prstGeom>
          <a:noFill/>
        </p:spPr>
        <p:txBody>
          <a:bodyPr wrap="none" rtlCol="0">
            <a:spAutoFit/>
          </a:bodyPr>
          <a:lstStyle/>
          <a:p>
            <a:r>
              <a:rPr lang="es-PE" sz="2800" dirty="0">
                <a:latin typeface="Times New Roman" panose="02020603050405020304" pitchFamily="18" charset="0"/>
                <a:cs typeface="Times New Roman" panose="02020603050405020304" pitchFamily="18" charset="0"/>
              </a:rPr>
              <a:t>Preprocesamiento</a:t>
            </a:r>
          </a:p>
        </p:txBody>
      </p:sp>
      <p:sp>
        <p:nvSpPr>
          <p:cNvPr id="4" name="CuadroTexto 3">
            <a:extLst>
              <a:ext uri="{FF2B5EF4-FFF2-40B4-BE49-F238E27FC236}">
                <a16:creationId xmlns:a16="http://schemas.microsoft.com/office/drawing/2014/main" id="{3D1E4C69-7D7F-4B13-B6A1-975C966192B0}"/>
              </a:ext>
            </a:extLst>
          </p:cNvPr>
          <p:cNvSpPr txBox="1"/>
          <p:nvPr/>
        </p:nvSpPr>
        <p:spPr>
          <a:xfrm>
            <a:off x="524088" y="898071"/>
            <a:ext cx="10820187" cy="1015663"/>
          </a:xfrm>
          <a:prstGeom prst="rect">
            <a:avLst/>
          </a:prstGeom>
          <a:noFill/>
        </p:spPr>
        <p:txBody>
          <a:bodyPr wrap="square" rtlCol="0">
            <a:spAutoFit/>
          </a:bodyPr>
          <a:lstStyle/>
          <a:p>
            <a:pPr algn="just"/>
            <a:r>
              <a:rPr lang="es-PE" sz="2000" dirty="0">
                <a:latin typeface="Times New Roman" panose="02020603050405020304" pitchFamily="18" charset="0"/>
                <a:cs typeface="Times New Roman" panose="02020603050405020304" pitchFamily="18" charset="0"/>
              </a:rPr>
              <a:t>Para mejorar la precisión de los programas original se agrego un cambio de brillo y un escalamiento de la imagen, esto mejoro la precisión de todos los programas en especial del programa que usa DNN que mostro las mayores mejoras</a:t>
            </a:r>
          </a:p>
        </p:txBody>
      </p:sp>
    </p:spTree>
    <p:extLst>
      <p:ext uri="{BB962C8B-B14F-4D97-AF65-F5344CB8AC3E}">
        <p14:creationId xmlns:p14="http://schemas.microsoft.com/office/powerpoint/2010/main" val="31357715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B3635185-A62F-4C8F-BC79-8EACD6680E2E}"/>
              </a:ext>
            </a:extLst>
          </p:cNvPr>
          <p:cNvSpPr txBox="1"/>
          <p:nvPr/>
        </p:nvSpPr>
        <p:spPr>
          <a:xfrm>
            <a:off x="4731727" y="149133"/>
            <a:ext cx="2214068" cy="523220"/>
          </a:xfrm>
          <a:prstGeom prst="rect">
            <a:avLst/>
          </a:prstGeom>
          <a:noFill/>
        </p:spPr>
        <p:txBody>
          <a:bodyPr wrap="none" rtlCol="0">
            <a:spAutoFit/>
          </a:bodyPr>
          <a:lstStyle/>
          <a:p>
            <a:r>
              <a:rPr lang="es-PE" sz="2800" dirty="0">
                <a:latin typeface="Times New Roman" panose="02020603050405020304" pitchFamily="18" charset="0"/>
                <a:cs typeface="Times New Roman" panose="02020603050405020304" pitchFamily="18" charset="0"/>
              </a:rPr>
              <a:t>Paralelización</a:t>
            </a:r>
          </a:p>
        </p:txBody>
      </p:sp>
      <p:pic>
        <p:nvPicPr>
          <p:cNvPr id="3" name="Imagen 2">
            <a:extLst>
              <a:ext uri="{FF2B5EF4-FFF2-40B4-BE49-F238E27FC236}">
                <a16:creationId xmlns:a16="http://schemas.microsoft.com/office/drawing/2014/main" id="{932BFB0A-87F9-43E8-999E-869F6CD75DCB}"/>
              </a:ext>
            </a:extLst>
          </p:cNvPr>
          <p:cNvPicPr/>
          <p:nvPr/>
        </p:nvPicPr>
        <p:blipFill>
          <a:blip r:embed="rId2"/>
          <a:stretch>
            <a:fillRect/>
          </a:stretch>
        </p:blipFill>
        <p:spPr>
          <a:xfrm>
            <a:off x="2303929" y="3761833"/>
            <a:ext cx="7236161" cy="2423814"/>
          </a:xfrm>
          <a:prstGeom prst="rect">
            <a:avLst/>
          </a:prstGeom>
        </p:spPr>
      </p:pic>
      <p:sp>
        <p:nvSpPr>
          <p:cNvPr id="5" name="CuadroTexto 4">
            <a:extLst>
              <a:ext uri="{FF2B5EF4-FFF2-40B4-BE49-F238E27FC236}">
                <a16:creationId xmlns:a16="http://schemas.microsoft.com/office/drawing/2014/main" id="{DA3420D2-C1A0-4E55-809E-D469B0077C1C}"/>
              </a:ext>
            </a:extLst>
          </p:cNvPr>
          <p:cNvSpPr txBox="1"/>
          <p:nvPr/>
        </p:nvSpPr>
        <p:spPr>
          <a:xfrm>
            <a:off x="289608" y="1125928"/>
            <a:ext cx="11098306" cy="2443939"/>
          </a:xfrm>
          <a:prstGeom prst="rect">
            <a:avLst/>
          </a:prstGeom>
          <a:noFill/>
        </p:spPr>
        <p:txBody>
          <a:bodyPr wrap="square">
            <a:spAutoFit/>
          </a:bodyPr>
          <a:lstStyle/>
          <a:p>
            <a:pPr algn="just">
              <a:lnSpc>
                <a:spcPct val="107000"/>
              </a:lnSpc>
              <a:spcAft>
                <a:spcPts val="800"/>
              </a:spcAft>
            </a:pPr>
            <a:r>
              <a:rPr lang="es-MX" sz="2400" dirty="0">
                <a:effectLst/>
                <a:latin typeface="Times New Roman" panose="02020603050405020304" pitchFamily="18" charset="0"/>
                <a:ea typeface="Calibri" panose="020F0502020204030204" pitchFamily="34" charset="0"/>
                <a:cs typeface="Arial" panose="020B0604020202020204" pitchFamily="34" charset="0"/>
              </a:rPr>
              <a:t>El método de paralelización usado es “</a:t>
            </a:r>
            <a:r>
              <a:rPr lang="es-PE" sz="2400" dirty="0" err="1">
                <a:effectLst/>
                <a:latin typeface="Times New Roman" panose="02020603050405020304" pitchFamily="18" charset="0"/>
                <a:ea typeface="Calibri" panose="020F0502020204030204" pitchFamily="34" charset="0"/>
                <a:cs typeface="Arial" panose="020B0604020202020204" pitchFamily="34" charset="0"/>
              </a:rPr>
              <a:t>embarrassingly</a:t>
            </a:r>
            <a:r>
              <a:rPr lang="es-PE" sz="2400" dirty="0">
                <a:effectLst/>
                <a:latin typeface="Times New Roman" panose="02020603050405020304" pitchFamily="18" charset="0"/>
                <a:ea typeface="Calibri" panose="020F0502020204030204" pitchFamily="34" charset="0"/>
                <a:cs typeface="Arial" panose="020B0604020202020204" pitchFamily="34" charset="0"/>
              </a:rPr>
              <a:t> </a:t>
            </a:r>
            <a:r>
              <a:rPr lang="es-PE" sz="2400" dirty="0" err="1">
                <a:effectLst/>
                <a:latin typeface="Times New Roman" panose="02020603050405020304" pitchFamily="18" charset="0"/>
                <a:ea typeface="Calibri" panose="020F0502020204030204" pitchFamily="34" charset="0"/>
                <a:cs typeface="Arial" panose="020B0604020202020204" pitchFamily="34" charset="0"/>
              </a:rPr>
              <a:t>parallel</a:t>
            </a:r>
            <a:r>
              <a:rPr lang="es-MX" sz="2400" dirty="0">
                <a:effectLst/>
                <a:latin typeface="Times New Roman" panose="02020603050405020304" pitchFamily="18" charset="0"/>
                <a:ea typeface="Calibri" panose="020F0502020204030204" pitchFamily="34" charset="0"/>
                <a:cs typeface="Arial" panose="020B0604020202020204" pitchFamily="34" charset="0"/>
              </a:rPr>
              <a:t>” </a:t>
            </a:r>
            <a:r>
              <a:rPr lang="es-PE" sz="2400" dirty="0">
                <a:effectLst/>
                <a:latin typeface="Times New Roman" panose="02020603050405020304" pitchFamily="18" charset="0"/>
                <a:ea typeface="Calibri" panose="020F0502020204030204" pitchFamily="34" charset="0"/>
                <a:cs typeface="Arial" panose="020B0604020202020204" pitchFamily="34" charset="0"/>
              </a:rPr>
              <a:t>el cual corresponde a un esquema de procesamiento en flujo donde una misma función es replicada para permitir que distintos elementos del flujo de entrada sean procesados en paralelo por múltiples instancias. Este enfoque resulta adecuado para aplicaciones en las que el orden de los resultados no es crítico, ya que la velocidad de procesamiento puede variar entre los distintos procesos.</a:t>
            </a:r>
            <a:endParaRPr lang="en-US" sz="24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5525154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D16F5718-492F-473E-83D2-8FFEDF17ECF4}"/>
              </a:ext>
            </a:extLst>
          </p:cNvPr>
          <p:cNvSpPr txBox="1"/>
          <p:nvPr/>
        </p:nvSpPr>
        <p:spPr>
          <a:xfrm>
            <a:off x="3143809" y="146566"/>
            <a:ext cx="6096000" cy="522259"/>
          </a:xfrm>
          <a:prstGeom prst="rect">
            <a:avLst/>
          </a:prstGeom>
          <a:noFill/>
        </p:spPr>
        <p:txBody>
          <a:bodyPr wrap="square">
            <a:spAutoFit/>
          </a:bodyPr>
          <a:lstStyle/>
          <a:p>
            <a:pPr algn="ctr">
              <a:lnSpc>
                <a:spcPct val="107000"/>
              </a:lnSpc>
            </a:pPr>
            <a:r>
              <a:rPr lang="es-PE" sz="2800" dirty="0">
                <a:effectLst/>
                <a:latin typeface="Times New Roman" panose="02020603050405020304" pitchFamily="18" charset="0"/>
                <a:ea typeface="Calibri" panose="020F0502020204030204" pitchFamily="34" charset="0"/>
              </a:rPr>
              <a:t>CNN</a:t>
            </a:r>
          </a:p>
        </p:txBody>
      </p:sp>
      <p:pic>
        <p:nvPicPr>
          <p:cNvPr id="4" name="Imagen 3">
            <a:extLst>
              <a:ext uri="{FF2B5EF4-FFF2-40B4-BE49-F238E27FC236}">
                <a16:creationId xmlns:a16="http://schemas.microsoft.com/office/drawing/2014/main" id="{3DB436D7-71ED-43DF-AA56-81CCF8A36BBD}"/>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455102" y="3172686"/>
            <a:ext cx="9129395" cy="3593465"/>
          </a:xfrm>
          <a:prstGeom prst="rect">
            <a:avLst/>
          </a:prstGeom>
          <a:noFill/>
          <a:ln>
            <a:noFill/>
          </a:ln>
        </p:spPr>
      </p:pic>
      <p:sp>
        <p:nvSpPr>
          <p:cNvPr id="5" name="CuadroTexto 4">
            <a:extLst>
              <a:ext uri="{FF2B5EF4-FFF2-40B4-BE49-F238E27FC236}">
                <a16:creationId xmlns:a16="http://schemas.microsoft.com/office/drawing/2014/main" id="{8E5EB155-73AE-4022-9081-8AC7422A57B4}"/>
              </a:ext>
            </a:extLst>
          </p:cNvPr>
          <p:cNvSpPr txBox="1"/>
          <p:nvPr/>
        </p:nvSpPr>
        <p:spPr>
          <a:xfrm>
            <a:off x="476809" y="735417"/>
            <a:ext cx="11429999" cy="2246769"/>
          </a:xfrm>
          <a:prstGeom prst="rect">
            <a:avLst/>
          </a:prstGeom>
          <a:noFill/>
        </p:spPr>
        <p:txBody>
          <a:bodyPr wrap="square">
            <a:spAutoFit/>
          </a:bodyPr>
          <a:lstStyle/>
          <a:p>
            <a:pPr algn="just"/>
            <a:r>
              <a:rPr lang="es-MX" sz="2000" dirty="0">
                <a:latin typeface="Times New Roman" panose="02020603050405020304" pitchFamily="18" charset="0"/>
                <a:cs typeface="Times New Roman" panose="02020603050405020304" pitchFamily="18" charset="0"/>
              </a:rPr>
              <a:t>Se agrego un quinto modelo para la detección de rostros, una red neuronal convolucional basada en VGG‑16 como </a:t>
            </a:r>
            <a:r>
              <a:rPr lang="es-MX" sz="2000" dirty="0" err="1">
                <a:latin typeface="Times New Roman" panose="02020603050405020304" pitchFamily="18" charset="0"/>
                <a:cs typeface="Times New Roman" panose="02020603050405020304" pitchFamily="18" charset="0"/>
              </a:rPr>
              <a:t>backbone</a:t>
            </a:r>
            <a:r>
              <a:rPr lang="es-MX" sz="2000" dirty="0">
                <a:latin typeface="Times New Roman" panose="02020603050405020304" pitchFamily="18" charset="0"/>
                <a:cs typeface="Times New Roman" panose="02020603050405020304" pitchFamily="18" charset="0"/>
              </a:rPr>
              <a:t> de un Single </a:t>
            </a:r>
            <a:r>
              <a:rPr lang="es-MX" sz="2000" dirty="0" err="1">
                <a:latin typeface="Times New Roman" panose="02020603050405020304" pitchFamily="18" charset="0"/>
                <a:cs typeface="Times New Roman" panose="02020603050405020304" pitchFamily="18" charset="0"/>
              </a:rPr>
              <a:t>Shot</a:t>
            </a:r>
            <a:r>
              <a:rPr lang="es-MX" sz="2000" dirty="0">
                <a:latin typeface="Times New Roman" panose="02020603050405020304" pitchFamily="18" charset="0"/>
                <a:cs typeface="Times New Roman" panose="02020603050405020304" pitchFamily="18" charset="0"/>
              </a:rPr>
              <a:t> </a:t>
            </a:r>
            <a:r>
              <a:rPr lang="es-MX" sz="2000" dirty="0" err="1">
                <a:latin typeface="Times New Roman" panose="02020603050405020304" pitchFamily="18" charset="0"/>
                <a:cs typeface="Times New Roman" panose="02020603050405020304" pitchFamily="18" charset="0"/>
              </a:rPr>
              <a:t>MultiBox</a:t>
            </a:r>
            <a:r>
              <a:rPr lang="es-MX" sz="2000" dirty="0">
                <a:latin typeface="Times New Roman" panose="02020603050405020304" pitchFamily="18" charset="0"/>
                <a:cs typeface="Times New Roman" panose="02020603050405020304" pitchFamily="18" charset="0"/>
              </a:rPr>
              <a:t> Detector (SSD). La VGG‑16, pre-entrenada en </a:t>
            </a:r>
            <a:r>
              <a:rPr lang="es-MX" sz="2000" dirty="0" err="1">
                <a:latin typeface="Times New Roman" panose="02020603050405020304" pitchFamily="18" charset="0"/>
                <a:cs typeface="Times New Roman" panose="02020603050405020304" pitchFamily="18" charset="0"/>
              </a:rPr>
              <a:t>ImageNet</a:t>
            </a:r>
            <a:r>
              <a:rPr lang="es-MX" sz="2000" dirty="0">
                <a:latin typeface="Times New Roman" panose="02020603050405020304" pitchFamily="18" charset="0"/>
                <a:cs typeface="Times New Roman" panose="02020603050405020304" pitchFamily="18" charset="0"/>
              </a:rPr>
              <a:t>, actúa como extractor de características profundas de las imágenes, mientras que el SSD añade capas adicionales para generar predicciones de localización y confianza de múltiples cajas en una sola pasada por la red. Las imágenes se redimensionaron a un tamaño fijo de 360 x 360 pixeles y se normalizaron según los valores promedio de VGG‑16 para asegurar compatibilidad con los pesos pre-entrenados y un correcto funcionamiento del detector. La red fue paralelizada usando 4 hilos.</a:t>
            </a:r>
          </a:p>
        </p:txBody>
      </p:sp>
    </p:spTree>
    <p:extLst>
      <p:ext uri="{BB962C8B-B14F-4D97-AF65-F5344CB8AC3E}">
        <p14:creationId xmlns:p14="http://schemas.microsoft.com/office/powerpoint/2010/main" val="18519186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A701FBBB-1C53-46DE-B599-C48D11E3256A}"/>
              </a:ext>
            </a:extLst>
          </p:cNvPr>
          <p:cNvPicPr/>
          <p:nvPr/>
        </p:nvPicPr>
        <p:blipFill rotWithShape="1">
          <a:blip r:embed="rId2">
            <a:extLst>
              <a:ext uri="{28A0092B-C50C-407E-A947-70E740481C1C}">
                <a14:useLocalDpi xmlns:a14="http://schemas.microsoft.com/office/drawing/2010/main" val="0"/>
              </a:ext>
            </a:extLst>
          </a:blip>
          <a:srcRect l="8490" t="13472" r="6839"/>
          <a:stretch/>
        </p:blipFill>
        <p:spPr bwMode="auto">
          <a:xfrm>
            <a:off x="7188888" y="846888"/>
            <a:ext cx="4215823" cy="2766778"/>
          </a:xfrm>
          <a:prstGeom prst="rect">
            <a:avLst/>
          </a:prstGeom>
          <a:noFill/>
          <a:ln>
            <a:noFill/>
          </a:ln>
        </p:spPr>
      </p:pic>
      <p:pic>
        <p:nvPicPr>
          <p:cNvPr id="3" name="Imagen 2">
            <a:extLst>
              <a:ext uri="{FF2B5EF4-FFF2-40B4-BE49-F238E27FC236}">
                <a16:creationId xmlns:a16="http://schemas.microsoft.com/office/drawing/2014/main" id="{3847C9B5-905A-451A-8E6C-40AFD7B67BF8}"/>
              </a:ext>
            </a:extLst>
          </p:cNvPr>
          <p:cNvPicPr/>
          <p:nvPr/>
        </p:nvPicPr>
        <p:blipFill rotWithShape="1">
          <a:blip r:embed="rId3">
            <a:extLst>
              <a:ext uri="{28A0092B-C50C-407E-A947-70E740481C1C}">
                <a14:useLocalDpi xmlns:a14="http://schemas.microsoft.com/office/drawing/2010/main" val="0"/>
              </a:ext>
            </a:extLst>
          </a:blip>
          <a:srcRect b="13299"/>
          <a:stretch/>
        </p:blipFill>
        <p:spPr bwMode="auto">
          <a:xfrm>
            <a:off x="7188888" y="3822690"/>
            <a:ext cx="4215823" cy="2631898"/>
          </a:xfrm>
          <a:prstGeom prst="rect">
            <a:avLst/>
          </a:prstGeom>
          <a:noFill/>
          <a:ln>
            <a:noFill/>
          </a:ln>
        </p:spPr>
      </p:pic>
      <mc:AlternateContent xmlns:mc="http://schemas.openxmlformats.org/markup-compatibility/2006">
        <mc:Choice xmlns:a14="http://schemas.microsoft.com/office/drawing/2010/main" Requires="a14">
          <p:sp>
            <p:nvSpPr>
              <p:cNvPr id="5" name="CuadroTexto 4">
                <a:extLst>
                  <a:ext uri="{FF2B5EF4-FFF2-40B4-BE49-F238E27FC236}">
                    <a16:creationId xmlns:a16="http://schemas.microsoft.com/office/drawing/2014/main" id="{8DD72FF1-910D-4613-9C34-8D9E00F72E5B}"/>
                  </a:ext>
                </a:extLst>
              </p:cNvPr>
              <p:cNvSpPr txBox="1"/>
              <p:nvPr/>
            </p:nvSpPr>
            <p:spPr>
              <a:xfrm>
                <a:off x="705337" y="1650729"/>
                <a:ext cx="4903694" cy="1118255"/>
              </a:xfrm>
              <a:prstGeom prst="rect">
                <a:avLst/>
              </a:prstGeom>
              <a:noFill/>
            </p:spPr>
            <p:txBody>
              <a:bodyPr wrap="square">
                <a:spAutoFit/>
              </a:bodyPr>
              <a:lstStyle/>
              <a:p>
                <a:pPr>
                  <a:lnSpc>
                    <a:spcPts val="122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PE" sz="1800" spc="1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Para solucionar esto se usa un threshold dinámico</a:t>
                </a:r>
              </a:p>
              <a:p>
                <a:pPr>
                  <a:lnSpc>
                    <a:spcPts val="122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PE" sz="1800" spc="1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definido por la ecuación:</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ts val="122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PE" sz="1800" spc="15"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a:lnSpc>
                    <a:spcPts val="122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14:m>
                  <m:oMathPara xmlns:m="http://schemas.openxmlformats.org/officeDocument/2006/math">
                    <m:oMathParaPr>
                      <m:jc m:val="centerGroup"/>
                    </m:oMathParaPr>
                    <m:oMath xmlns:m="http://schemas.openxmlformats.org/officeDocument/2006/math">
                      <m:r>
                        <m:rPr>
                          <m:sty m:val="p"/>
                        </m:rPr>
                        <a:rPr lang="es-PE" sz="1800" spc="15">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threshold</m:t>
                      </m:r>
                      <m:r>
                        <a:rPr lang="es-PE" sz="1800" spc="15">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800" spc="15">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max</m:t>
                      </m:r>
                      <m:r>
                        <a:rPr lang="en-US" sz="1800" spc="15">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(0.2, </m:t>
                      </m:r>
                      <m:sSup>
                        <m:sSupPr>
                          <m:ctrlPr>
                            <a:rPr lang="en-US" sz="1800" i="1" spc="15">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m:rPr>
                              <m:sty m:val="p"/>
                            </m:rPr>
                            <a:rPr lang="en-US" sz="1800" spc="15">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p</m:t>
                          </m:r>
                        </m:e>
                        <m:sup>
                          <m:r>
                            <a:rPr lang="en-US" sz="1800" i="1" spc="15">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4</m:t>
                          </m:r>
                        </m:sup>
                      </m:sSup>
                      <m:r>
                        <a:rPr lang="en-US" sz="1800" spc="15">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/1.6)</m:t>
                      </m:r>
                    </m:oMath>
                  </m:oMathPara>
                </a14:m>
                <a:endParaRPr lang="en-US" sz="1800" dirty="0">
                  <a:effectLst/>
                  <a:latin typeface="Calibri" panose="020F0502020204030204" pitchFamily="34" charset="0"/>
                  <a:ea typeface="Calibri" panose="020F0502020204030204" pitchFamily="34" charset="0"/>
                  <a:cs typeface="Arial" panose="020B0604020202020204" pitchFamily="34" charset="0"/>
                </a:endParaRPr>
              </a:p>
            </p:txBody>
          </p:sp>
        </mc:Choice>
        <mc:Fallback>
          <p:sp>
            <p:nvSpPr>
              <p:cNvPr id="5" name="CuadroTexto 4">
                <a:extLst>
                  <a:ext uri="{FF2B5EF4-FFF2-40B4-BE49-F238E27FC236}">
                    <a16:creationId xmlns:a16="http://schemas.microsoft.com/office/drawing/2014/main" id="{8DD72FF1-910D-4613-9C34-8D9E00F72E5B}"/>
                  </a:ext>
                </a:extLst>
              </p:cNvPr>
              <p:cNvSpPr txBox="1">
                <a:spLocks noRot="1" noChangeAspect="1" noMove="1" noResize="1" noEditPoints="1" noAdjustHandles="1" noChangeArrowheads="1" noChangeShapeType="1" noTextEdit="1"/>
              </p:cNvSpPr>
              <p:nvPr/>
            </p:nvSpPr>
            <p:spPr>
              <a:xfrm>
                <a:off x="705337" y="1650729"/>
                <a:ext cx="4903694" cy="1118255"/>
              </a:xfrm>
              <a:prstGeom prst="rect">
                <a:avLst/>
              </a:prstGeom>
              <a:blipFill>
                <a:blip r:embed="rId4"/>
                <a:stretch>
                  <a:fillRect l="-1119" t="-12568"/>
                </a:stretch>
              </a:blipFill>
            </p:spPr>
            <p:txBody>
              <a:bodyPr/>
              <a:lstStyle/>
              <a:p>
                <a:r>
                  <a:rPr lang="en-US">
                    <a:noFill/>
                  </a:rPr>
                  <a:t> </a:t>
                </a:r>
              </a:p>
            </p:txBody>
          </p:sp>
        </mc:Fallback>
      </mc:AlternateContent>
      <p:sp>
        <p:nvSpPr>
          <p:cNvPr id="7" name="CuadroTexto 6">
            <a:extLst>
              <a:ext uri="{FF2B5EF4-FFF2-40B4-BE49-F238E27FC236}">
                <a16:creationId xmlns:a16="http://schemas.microsoft.com/office/drawing/2014/main" id="{C10A4758-F2FD-4E78-AABA-37BA7D26D48C}"/>
              </a:ext>
            </a:extLst>
          </p:cNvPr>
          <p:cNvSpPr txBox="1"/>
          <p:nvPr/>
        </p:nvSpPr>
        <p:spPr>
          <a:xfrm>
            <a:off x="2671482" y="66842"/>
            <a:ext cx="6096000" cy="461665"/>
          </a:xfrm>
          <a:prstGeom prst="rect">
            <a:avLst/>
          </a:prstGeom>
          <a:noFill/>
        </p:spPr>
        <p:txBody>
          <a:bodyPr wrap="square">
            <a:spAutoFit/>
          </a:bodyPr>
          <a:lstStyle/>
          <a:p>
            <a:pPr algn="ctr"/>
            <a:r>
              <a:rPr lang="es-PE" sz="2400" spc="15" dirty="0">
                <a:solidFill>
                  <a:srgbClr val="000000"/>
                </a:solidFill>
                <a:latin typeface="Times New Roman" panose="02020603050405020304" pitchFamily="18" charset="0"/>
                <a:ea typeface="Calibri" panose="020F0502020204030204" pitchFamily="34" charset="0"/>
                <a:cs typeface="Arial" panose="020B0604020202020204" pitchFamily="34" charset="0"/>
              </a:rPr>
              <a:t>T</a:t>
            </a:r>
            <a:r>
              <a:rPr lang="es-PE" sz="2400" spc="15"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hreshold dinámico</a:t>
            </a:r>
            <a:endParaRPr lang="en-US" sz="2400" dirty="0"/>
          </a:p>
        </p:txBody>
      </p:sp>
      <p:sp>
        <p:nvSpPr>
          <p:cNvPr id="8" name="CuadroTexto 7">
            <a:extLst>
              <a:ext uri="{FF2B5EF4-FFF2-40B4-BE49-F238E27FC236}">
                <a16:creationId xmlns:a16="http://schemas.microsoft.com/office/drawing/2014/main" id="{95E32E9E-EA17-42E9-9D3B-1AAF36B585C3}"/>
              </a:ext>
            </a:extLst>
          </p:cNvPr>
          <p:cNvSpPr txBox="1"/>
          <p:nvPr/>
        </p:nvSpPr>
        <p:spPr>
          <a:xfrm>
            <a:off x="787288" y="731987"/>
            <a:ext cx="4903694" cy="646331"/>
          </a:xfrm>
          <a:prstGeom prst="rect">
            <a:avLst/>
          </a:prstGeom>
          <a:noFill/>
        </p:spPr>
        <p:txBody>
          <a:bodyPr wrap="square" rtlCol="0">
            <a:spAutoFit/>
          </a:bodyPr>
          <a:lstStyle/>
          <a:p>
            <a:r>
              <a:rPr lang="es-PE" dirty="0">
                <a:latin typeface="Times New Roman" panose="02020603050405020304" pitchFamily="18" charset="0"/>
                <a:cs typeface="Times New Roman" panose="02020603050405020304" pitchFamily="18" charset="0"/>
              </a:rPr>
              <a:t>El mismo </a:t>
            </a:r>
            <a:r>
              <a:rPr lang="es-PE" sz="1800" spc="1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threshold puede generar falsos positivos en una imagen y falsos negativos en otra </a:t>
            </a:r>
            <a:endParaRPr lang="es-PE"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0" name="CuadroTexto 9">
                <a:extLst>
                  <a:ext uri="{FF2B5EF4-FFF2-40B4-BE49-F238E27FC236}">
                    <a16:creationId xmlns:a16="http://schemas.microsoft.com/office/drawing/2014/main" id="{40962402-7003-42B5-98AE-C2EC151293B6}"/>
                  </a:ext>
                </a:extLst>
              </p:cNvPr>
              <p:cNvSpPr txBox="1"/>
              <p:nvPr/>
            </p:nvSpPr>
            <p:spPr>
              <a:xfrm>
                <a:off x="-95736" y="3059668"/>
                <a:ext cx="686696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1800" spc="15"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p</m:t>
                      </m:r>
                      <m:r>
                        <a:rPr lang="es-PE" sz="1800" b="0" i="0" spc="15"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s-PE" sz="1800" b="0" i="0" spc="15"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probabilidad</m:t>
                      </m:r>
                      <m:r>
                        <a:rPr lang="es-PE" sz="1800" b="0" i="0" spc="15"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s-PE" sz="1800" b="0" i="0" spc="15"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de</m:t>
                      </m:r>
                      <m:r>
                        <a:rPr lang="es-PE" sz="1800" b="0" i="0" spc="15"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s-PE" sz="1800" b="0" i="0" spc="15"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rostro</m:t>
                      </m:r>
                      <m:r>
                        <a:rPr lang="es-PE" sz="1800" b="0" i="0" spc="15"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s-PE" sz="1800" b="0" i="0" spc="15"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mas</m:t>
                      </m:r>
                      <m:r>
                        <a:rPr lang="es-PE" sz="1800" b="0" i="0" spc="15"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s-PE" sz="1800" b="0" i="0" spc="15"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alta</m:t>
                      </m:r>
                      <m:r>
                        <a:rPr lang="es-PE" sz="1800" b="0" i="0" spc="15"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s-PE" sz="1800" b="0" i="0" spc="15"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encontrada</m:t>
                      </m:r>
                      <m:r>
                        <a:rPr lang="es-PE" sz="1800" b="0" i="0" spc="15"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s-PE" sz="1800" b="0" i="0" spc="15"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en</m:t>
                      </m:r>
                      <m:r>
                        <a:rPr lang="es-PE" sz="1800" b="0" i="0" spc="15"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s-PE" sz="1800" b="0" i="0" spc="15"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la</m:t>
                      </m:r>
                      <m:r>
                        <a:rPr lang="es-PE" sz="1800" b="0" i="0" spc="15"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s-PE" sz="1800" b="0" i="0" spc="15"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imagen</m:t>
                      </m:r>
                    </m:oMath>
                  </m:oMathPara>
                </a14:m>
                <a:endParaRPr lang="en-US" dirty="0"/>
              </a:p>
            </p:txBody>
          </p:sp>
        </mc:Choice>
        <mc:Fallback>
          <p:sp>
            <p:nvSpPr>
              <p:cNvPr id="10" name="CuadroTexto 9">
                <a:extLst>
                  <a:ext uri="{FF2B5EF4-FFF2-40B4-BE49-F238E27FC236}">
                    <a16:creationId xmlns:a16="http://schemas.microsoft.com/office/drawing/2014/main" id="{40962402-7003-42B5-98AE-C2EC151293B6}"/>
                  </a:ext>
                </a:extLst>
              </p:cNvPr>
              <p:cNvSpPr txBox="1">
                <a:spLocks noRot="1" noChangeAspect="1" noMove="1" noResize="1" noEditPoints="1" noAdjustHandles="1" noChangeArrowheads="1" noChangeShapeType="1" noTextEdit="1"/>
              </p:cNvSpPr>
              <p:nvPr/>
            </p:nvSpPr>
            <p:spPr>
              <a:xfrm>
                <a:off x="-95736" y="3059668"/>
                <a:ext cx="6866965" cy="369332"/>
              </a:xfrm>
              <a:prstGeom prst="rect">
                <a:avLst/>
              </a:prstGeom>
              <a:blipFill>
                <a:blip r:embed="rId5"/>
                <a:stretch>
                  <a:fillRect b="-11475"/>
                </a:stretch>
              </a:blipFill>
            </p:spPr>
            <p:txBody>
              <a:bodyPr/>
              <a:lstStyle/>
              <a:p>
                <a:r>
                  <a:rPr lang="en-US">
                    <a:noFill/>
                  </a:rPr>
                  <a:t> </a:t>
                </a:r>
              </a:p>
            </p:txBody>
          </p:sp>
        </mc:Fallback>
      </mc:AlternateContent>
      <p:pic>
        <p:nvPicPr>
          <p:cNvPr id="6" name="Imagen 5">
            <a:extLst>
              <a:ext uri="{FF2B5EF4-FFF2-40B4-BE49-F238E27FC236}">
                <a16:creationId xmlns:a16="http://schemas.microsoft.com/office/drawing/2014/main" id="{F2BF311D-16CA-48F8-A154-4CF25C21D01F}"/>
              </a:ext>
            </a:extLst>
          </p:cNvPr>
          <p:cNvPicPr>
            <a:picLocks noChangeAspect="1"/>
          </p:cNvPicPr>
          <p:nvPr/>
        </p:nvPicPr>
        <p:blipFill rotWithShape="1">
          <a:blip r:embed="rId6">
            <a:extLst>
              <a:ext uri="{28A0092B-C50C-407E-A947-70E740481C1C}">
                <a14:useLocalDpi xmlns:a14="http://schemas.microsoft.com/office/drawing/2010/main" val="0"/>
              </a:ext>
            </a:extLst>
          </a:blip>
          <a:srcRect l="18026" t="19849" r="7817"/>
          <a:stretch/>
        </p:blipFill>
        <p:spPr>
          <a:xfrm>
            <a:off x="1596140" y="3571511"/>
            <a:ext cx="4292869" cy="3093216"/>
          </a:xfrm>
          <a:prstGeom prst="rect">
            <a:avLst/>
          </a:prstGeom>
        </p:spPr>
      </p:pic>
    </p:spTree>
    <p:extLst>
      <p:ext uri="{BB962C8B-B14F-4D97-AF65-F5344CB8AC3E}">
        <p14:creationId xmlns:p14="http://schemas.microsoft.com/office/powerpoint/2010/main" val="7423270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80C9976-390D-47B5-B24D-48A3789221DF}"/>
              </a:ext>
            </a:extLst>
          </p:cNvPr>
          <p:cNvSpPr txBox="1"/>
          <p:nvPr/>
        </p:nvSpPr>
        <p:spPr>
          <a:xfrm>
            <a:off x="4674777" y="33335"/>
            <a:ext cx="2842445" cy="523220"/>
          </a:xfrm>
          <a:prstGeom prst="rect">
            <a:avLst/>
          </a:prstGeom>
          <a:noFill/>
        </p:spPr>
        <p:txBody>
          <a:bodyPr wrap="none" rtlCol="0">
            <a:spAutoFit/>
          </a:bodyPr>
          <a:lstStyle/>
          <a:p>
            <a:r>
              <a:rPr lang="es-PE" sz="2800" dirty="0">
                <a:latin typeface="Times New Roman" panose="02020603050405020304" pitchFamily="18" charset="0"/>
                <a:cs typeface="Times New Roman" panose="02020603050405020304" pitchFamily="18" charset="0"/>
              </a:rPr>
              <a:t>Dataset expandido</a:t>
            </a:r>
          </a:p>
        </p:txBody>
      </p:sp>
      <p:pic>
        <p:nvPicPr>
          <p:cNvPr id="3" name="Imagen 2">
            <a:extLst>
              <a:ext uri="{FF2B5EF4-FFF2-40B4-BE49-F238E27FC236}">
                <a16:creationId xmlns:a16="http://schemas.microsoft.com/office/drawing/2014/main" id="{AFE223D2-EDC3-4E77-8944-65B3E14B6B60}"/>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676900" y="3221369"/>
            <a:ext cx="2561254" cy="1643468"/>
          </a:xfrm>
          <a:prstGeom prst="rect">
            <a:avLst/>
          </a:prstGeom>
          <a:noFill/>
          <a:ln>
            <a:noFill/>
          </a:ln>
        </p:spPr>
      </p:pic>
      <p:pic>
        <p:nvPicPr>
          <p:cNvPr id="4" name="Imagen 3">
            <a:extLst>
              <a:ext uri="{FF2B5EF4-FFF2-40B4-BE49-F238E27FC236}">
                <a16:creationId xmlns:a16="http://schemas.microsoft.com/office/drawing/2014/main" id="{7273FFD3-59EE-4222-BB6F-D5B655658B16}"/>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9436556" y="5017047"/>
            <a:ext cx="2613951" cy="1694020"/>
          </a:xfrm>
          <a:prstGeom prst="rect">
            <a:avLst/>
          </a:prstGeom>
          <a:noFill/>
          <a:ln>
            <a:noFill/>
          </a:ln>
        </p:spPr>
      </p:pic>
      <p:pic>
        <p:nvPicPr>
          <p:cNvPr id="7" name="Imagen 6">
            <a:extLst>
              <a:ext uri="{FF2B5EF4-FFF2-40B4-BE49-F238E27FC236}">
                <a16:creationId xmlns:a16="http://schemas.microsoft.com/office/drawing/2014/main" id="{4DD77049-AF8F-4A15-A6B0-7C52A076FAF4}"/>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504332" y="4998173"/>
            <a:ext cx="2613952" cy="1726645"/>
          </a:xfrm>
          <a:prstGeom prst="rect">
            <a:avLst/>
          </a:prstGeom>
          <a:noFill/>
          <a:ln>
            <a:noFill/>
          </a:ln>
        </p:spPr>
      </p:pic>
      <p:pic>
        <p:nvPicPr>
          <p:cNvPr id="8" name="Imagen 7">
            <a:extLst>
              <a:ext uri="{FF2B5EF4-FFF2-40B4-BE49-F238E27FC236}">
                <a16:creationId xmlns:a16="http://schemas.microsoft.com/office/drawing/2014/main" id="{460CD6A9-C57B-42E2-BEA7-3FFB69CBB86E}"/>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9436556" y="3197348"/>
            <a:ext cx="2561254" cy="1691510"/>
          </a:xfrm>
          <a:prstGeom prst="rect">
            <a:avLst/>
          </a:prstGeom>
          <a:noFill/>
          <a:ln>
            <a:noFill/>
          </a:ln>
        </p:spPr>
      </p:pic>
      <p:pic>
        <p:nvPicPr>
          <p:cNvPr id="9" name="Imagen 8">
            <a:extLst>
              <a:ext uri="{FF2B5EF4-FFF2-40B4-BE49-F238E27FC236}">
                <a16:creationId xmlns:a16="http://schemas.microsoft.com/office/drawing/2014/main" id="{EA28269D-06B4-490F-8E2F-50537404B555}"/>
              </a:ext>
            </a:extLst>
          </p:cNvPr>
          <p:cNvPicPr/>
          <p:nvPr/>
        </p:nvPicPr>
        <p:blipFill>
          <a:blip r:embed="rId6">
            <a:extLst>
              <a:ext uri="{28A0092B-C50C-407E-A947-70E740481C1C}">
                <a14:useLocalDpi xmlns:a14="http://schemas.microsoft.com/office/drawing/2010/main" val="0"/>
              </a:ext>
            </a:extLst>
          </a:blip>
          <a:srcRect/>
          <a:stretch>
            <a:fillRect/>
          </a:stretch>
        </p:blipFill>
        <p:spPr bwMode="auto">
          <a:xfrm>
            <a:off x="3676900" y="1325522"/>
            <a:ext cx="2561254" cy="1661907"/>
          </a:xfrm>
          <a:prstGeom prst="rect">
            <a:avLst/>
          </a:prstGeom>
          <a:noFill/>
          <a:ln>
            <a:noFill/>
          </a:ln>
        </p:spPr>
      </p:pic>
      <p:pic>
        <p:nvPicPr>
          <p:cNvPr id="10" name="Imagen 9">
            <a:extLst>
              <a:ext uri="{FF2B5EF4-FFF2-40B4-BE49-F238E27FC236}">
                <a16:creationId xmlns:a16="http://schemas.microsoft.com/office/drawing/2014/main" id="{B77E8E85-71FF-432E-8D69-C1EA4C987E6B}"/>
              </a:ext>
            </a:extLst>
          </p:cNvPr>
          <p:cNvPicPr/>
          <p:nvPr/>
        </p:nvPicPr>
        <p:blipFill>
          <a:blip r:embed="rId7">
            <a:extLst>
              <a:ext uri="{28A0092B-C50C-407E-A947-70E740481C1C}">
                <a14:useLocalDpi xmlns:a14="http://schemas.microsoft.com/office/drawing/2010/main" val="0"/>
              </a:ext>
            </a:extLst>
          </a:blip>
          <a:srcRect/>
          <a:stretch>
            <a:fillRect/>
          </a:stretch>
        </p:blipFill>
        <p:spPr bwMode="auto">
          <a:xfrm>
            <a:off x="9536537" y="1381951"/>
            <a:ext cx="2361291" cy="1687208"/>
          </a:xfrm>
          <a:prstGeom prst="rect">
            <a:avLst/>
          </a:prstGeom>
          <a:noFill/>
          <a:ln>
            <a:noFill/>
          </a:ln>
        </p:spPr>
      </p:pic>
      <p:pic>
        <p:nvPicPr>
          <p:cNvPr id="11" name="Imagen 10">
            <a:extLst>
              <a:ext uri="{FF2B5EF4-FFF2-40B4-BE49-F238E27FC236}">
                <a16:creationId xmlns:a16="http://schemas.microsoft.com/office/drawing/2014/main" id="{ADDE37CF-EF6F-4ED3-B3C7-DDF9D819818A}"/>
              </a:ext>
            </a:extLst>
          </p:cNvPr>
          <p:cNvPicPr/>
          <p:nvPr/>
        </p:nvPicPr>
        <p:blipFill>
          <a:blip r:embed="rId8">
            <a:extLst>
              <a:ext uri="{28A0092B-C50C-407E-A947-70E740481C1C}">
                <a14:useLocalDpi xmlns:a14="http://schemas.microsoft.com/office/drawing/2010/main" val="0"/>
              </a:ext>
            </a:extLst>
          </a:blip>
          <a:srcRect/>
          <a:stretch>
            <a:fillRect/>
          </a:stretch>
        </p:blipFill>
        <p:spPr bwMode="auto">
          <a:xfrm>
            <a:off x="504332" y="1325522"/>
            <a:ext cx="2561254" cy="1691510"/>
          </a:xfrm>
          <a:prstGeom prst="rect">
            <a:avLst/>
          </a:prstGeom>
          <a:noFill/>
          <a:ln>
            <a:noFill/>
          </a:ln>
        </p:spPr>
      </p:pic>
      <p:pic>
        <p:nvPicPr>
          <p:cNvPr id="12" name="Imagen 11">
            <a:extLst>
              <a:ext uri="{FF2B5EF4-FFF2-40B4-BE49-F238E27FC236}">
                <a16:creationId xmlns:a16="http://schemas.microsoft.com/office/drawing/2014/main" id="{5227804B-3C27-417F-8521-5E9690511ABA}"/>
              </a:ext>
            </a:extLst>
          </p:cNvPr>
          <p:cNvPicPr/>
          <p:nvPr/>
        </p:nvPicPr>
        <p:blipFill>
          <a:blip r:embed="rId9">
            <a:extLst>
              <a:ext uri="{28A0092B-C50C-407E-A947-70E740481C1C}">
                <a14:useLocalDpi xmlns:a14="http://schemas.microsoft.com/office/drawing/2010/main" val="0"/>
              </a:ext>
            </a:extLst>
          </a:blip>
          <a:srcRect/>
          <a:stretch>
            <a:fillRect/>
          </a:stretch>
        </p:blipFill>
        <p:spPr bwMode="auto">
          <a:xfrm>
            <a:off x="504332" y="3221369"/>
            <a:ext cx="2498798" cy="1643468"/>
          </a:xfrm>
          <a:prstGeom prst="rect">
            <a:avLst/>
          </a:prstGeom>
          <a:noFill/>
          <a:ln>
            <a:noFill/>
          </a:ln>
        </p:spPr>
      </p:pic>
      <p:sp>
        <p:nvSpPr>
          <p:cNvPr id="13" name="CuadroTexto 12">
            <a:extLst>
              <a:ext uri="{FF2B5EF4-FFF2-40B4-BE49-F238E27FC236}">
                <a16:creationId xmlns:a16="http://schemas.microsoft.com/office/drawing/2014/main" id="{726350BF-2785-454F-B293-56FD0E330F25}"/>
              </a:ext>
            </a:extLst>
          </p:cNvPr>
          <p:cNvSpPr txBox="1"/>
          <p:nvPr/>
        </p:nvSpPr>
        <p:spPr>
          <a:xfrm>
            <a:off x="2056927" y="780621"/>
            <a:ext cx="8660256" cy="400110"/>
          </a:xfrm>
          <a:prstGeom prst="rect">
            <a:avLst/>
          </a:prstGeom>
          <a:noFill/>
        </p:spPr>
        <p:txBody>
          <a:bodyPr wrap="none" rtlCol="0">
            <a:spAutoFit/>
          </a:bodyPr>
          <a:lstStyle/>
          <a:p>
            <a:r>
              <a:rPr lang="es-MX" sz="2000" dirty="0">
                <a:latin typeface="Times New Roman" panose="02020603050405020304" pitchFamily="18" charset="0"/>
                <a:cs typeface="Times New Roman" panose="02020603050405020304" pitchFamily="18" charset="0"/>
              </a:rPr>
              <a:t>El conjunto de datos inicial fue ampliado utilizando imágenes de dominio público</a:t>
            </a:r>
            <a:endParaRPr lang="es-PE" sz="2000" dirty="0">
              <a:latin typeface="Times New Roman" panose="02020603050405020304" pitchFamily="18" charset="0"/>
              <a:cs typeface="Times New Roman" panose="02020603050405020304" pitchFamily="18" charset="0"/>
            </a:endParaRPr>
          </a:p>
        </p:txBody>
      </p:sp>
      <p:pic>
        <p:nvPicPr>
          <p:cNvPr id="19" name="Imagen 18">
            <a:extLst>
              <a:ext uri="{FF2B5EF4-FFF2-40B4-BE49-F238E27FC236}">
                <a16:creationId xmlns:a16="http://schemas.microsoft.com/office/drawing/2014/main" id="{B36E812B-5AE8-4507-99F2-9ACAF6DD23D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606233" y="1325522"/>
            <a:ext cx="2562225" cy="1708150"/>
          </a:xfrm>
          <a:prstGeom prst="rect">
            <a:avLst/>
          </a:prstGeom>
        </p:spPr>
      </p:pic>
      <p:pic>
        <p:nvPicPr>
          <p:cNvPr id="23" name="Imagen 22">
            <a:extLst>
              <a:ext uri="{FF2B5EF4-FFF2-40B4-BE49-F238E27FC236}">
                <a16:creationId xmlns:a16="http://schemas.microsoft.com/office/drawing/2014/main" id="{434B0BBF-672F-4FE1-BD58-85D7AE093EBF}"/>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676900" y="5018469"/>
            <a:ext cx="2561254" cy="1706349"/>
          </a:xfrm>
          <a:prstGeom prst="rect">
            <a:avLst/>
          </a:prstGeom>
        </p:spPr>
      </p:pic>
      <p:pic>
        <p:nvPicPr>
          <p:cNvPr id="25" name="Imagen 24">
            <a:extLst>
              <a:ext uri="{FF2B5EF4-FFF2-40B4-BE49-F238E27FC236}">
                <a16:creationId xmlns:a16="http://schemas.microsoft.com/office/drawing/2014/main" id="{5155BDCD-DBEE-4E99-9CD5-3B64202FA0D1}"/>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606232" y="3176521"/>
            <a:ext cx="2562225" cy="1712337"/>
          </a:xfrm>
          <a:prstGeom prst="rect">
            <a:avLst/>
          </a:prstGeom>
        </p:spPr>
      </p:pic>
      <p:pic>
        <p:nvPicPr>
          <p:cNvPr id="27" name="Imagen 26">
            <a:extLst>
              <a:ext uri="{FF2B5EF4-FFF2-40B4-BE49-F238E27FC236}">
                <a16:creationId xmlns:a16="http://schemas.microsoft.com/office/drawing/2014/main" id="{ADC4D26F-CBFC-495A-9F18-4E8BDE166FDF}"/>
              </a:ext>
            </a:extLst>
          </p:cNvPr>
          <p:cNvPicPr>
            <a:picLocks noChangeAspect="1"/>
          </p:cNvPicPr>
          <p:nvPr/>
        </p:nvPicPr>
        <p:blipFill rotWithShape="1">
          <a:blip r:embed="rId13">
            <a:extLst>
              <a:ext uri="{28A0092B-C50C-407E-A947-70E740481C1C}">
                <a14:useLocalDpi xmlns:a14="http://schemas.microsoft.com/office/drawing/2010/main" val="0"/>
              </a:ext>
            </a:extLst>
          </a:blip>
          <a:srcRect b="7815"/>
          <a:stretch/>
        </p:blipFill>
        <p:spPr>
          <a:xfrm>
            <a:off x="6606232" y="4993260"/>
            <a:ext cx="2562225" cy="1717807"/>
          </a:xfrm>
          <a:prstGeom prst="rect">
            <a:avLst/>
          </a:prstGeom>
        </p:spPr>
      </p:pic>
    </p:spTree>
    <p:extLst>
      <p:ext uri="{BB962C8B-B14F-4D97-AF65-F5344CB8AC3E}">
        <p14:creationId xmlns:p14="http://schemas.microsoft.com/office/powerpoint/2010/main" val="31799315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3725A062-ECEA-4CFC-B0EE-E7704CDCC95D}"/>
              </a:ext>
            </a:extLst>
          </p:cNvPr>
          <p:cNvGraphicFramePr>
            <a:graphicFrameLocks noGrp="1"/>
          </p:cNvGraphicFramePr>
          <p:nvPr>
            <p:extLst>
              <p:ext uri="{D42A27DB-BD31-4B8C-83A1-F6EECF244321}">
                <p14:modId xmlns:p14="http://schemas.microsoft.com/office/powerpoint/2010/main" val="3487248115"/>
              </p:ext>
            </p:extLst>
          </p:nvPr>
        </p:nvGraphicFramePr>
        <p:xfrm>
          <a:off x="116542" y="3977949"/>
          <a:ext cx="11752729" cy="2596388"/>
        </p:xfrm>
        <a:graphic>
          <a:graphicData uri="http://schemas.openxmlformats.org/drawingml/2006/table">
            <a:tbl>
              <a:tblPr firstRow="1" firstCol="1" bandRow="1">
                <a:tableStyleId>{5C22544A-7EE6-4342-B048-85BDC9FD1C3A}</a:tableStyleId>
              </a:tblPr>
              <a:tblGrid>
                <a:gridCol w="2160833">
                  <a:extLst>
                    <a:ext uri="{9D8B030D-6E8A-4147-A177-3AD203B41FA5}">
                      <a16:colId xmlns:a16="http://schemas.microsoft.com/office/drawing/2014/main" val="3140018038"/>
                    </a:ext>
                  </a:extLst>
                </a:gridCol>
                <a:gridCol w="2314843">
                  <a:extLst>
                    <a:ext uri="{9D8B030D-6E8A-4147-A177-3AD203B41FA5}">
                      <a16:colId xmlns:a16="http://schemas.microsoft.com/office/drawing/2014/main" val="3350211399"/>
                    </a:ext>
                  </a:extLst>
                </a:gridCol>
                <a:gridCol w="2316009">
                  <a:extLst>
                    <a:ext uri="{9D8B030D-6E8A-4147-A177-3AD203B41FA5}">
                      <a16:colId xmlns:a16="http://schemas.microsoft.com/office/drawing/2014/main" val="1203889492"/>
                    </a:ext>
                  </a:extLst>
                </a:gridCol>
                <a:gridCol w="2480522">
                  <a:extLst>
                    <a:ext uri="{9D8B030D-6E8A-4147-A177-3AD203B41FA5}">
                      <a16:colId xmlns:a16="http://schemas.microsoft.com/office/drawing/2014/main" val="3305965111"/>
                    </a:ext>
                  </a:extLst>
                </a:gridCol>
                <a:gridCol w="2480522">
                  <a:extLst>
                    <a:ext uri="{9D8B030D-6E8A-4147-A177-3AD203B41FA5}">
                      <a16:colId xmlns:a16="http://schemas.microsoft.com/office/drawing/2014/main" val="2575975869"/>
                    </a:ext>
                  </a:extLst>
                </a:gridCol>
              </a:tblGrid>
              <a:tr h="200025">
                <a:tc rowSpan="2">
                  <a:txBody>
                    <a:bodyPr/>
                    <a:lstStyle/>
                    <a:p>
                      <a:pPr algn="ctr">
                        <a:lnSpc>
                          <a:spcPct val="107000"/>
                        </a:lnSpc>
                        <a:spcAft>
                          <a:spcPts val="800"/>
                        </a:spcAft>
                      </a:pPr>
                      <a:r>
                        <a:rPr lang="es-PE" sz="2400">
                          <a:effectLst/>
                          <a:latin typeface="Times New Roman" panose="02020603050405020304" pitchFamily="18" charset="0"/>
                          <a:cs typeface="Times New Roman" panose="02020603050405020304" pitchFamily="18" charset="0"/>
                        </a:rPr>
                        <a:t> </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gridSpan="2">
                  <a:txBody>
                    <a:bodyPr/>
                    <a:lstStyle/>
                    <a:p>
                      <a:pPr algn="ctr">
                        <a:lnSpc>
                          <a:spcPct val="107000"/>
                        </a:lnSpc>
                        <a:spcAft>
                          <a:spcPts val="800"/>
                        </a:spcAft>
                      </a:pPr>
                      <a:r>
                        <a:rPr lang="en-US" sz="2400" dirty="0">
                          <a:effectLst/>
                          <a:latin typeface="Times New Roman" panose="02020603050405020304" pitchFamily="18" charset="0"/>
                          <a:cs typeface="Times New Roman" panose="02020603050405020304" pitchFamily="18" charset="0"/>
                        </a:rPr>
                        <a:t>Código original</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hMerge="1">
                  <a:txBody>
                    <a:bodyPr/>
                    <a:lstStyle/>
                    <a:p>
                      <a:endParaRPr lang="en-US"/>
                    </a:p>
                  </a:txBody>
                  <a:tcPr/>
                </a:tc>
                <a:tc gridSpan="2">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Código </a:t>
                      </a:r>
                      <a:r>
                        <a:rPr lang="es-PE" sz="2400">
                          <a:effectLst/>
                          <a:latin typeface="Times New Roman" panose="02020603050405020304" pitchFamily="18" charset="0"/>
                          <a:cs typeface="Times New Roman" panose="02020603050405020304" pitchFamily="18" charset="0"/>
                        </a:rPr>
                        <a:t>modificado</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hMerge="1">
                  <a:txBody>
                    <a:bodyPr/>
                    <a:lstStyle/>
                    <a:p>
                      <a:endParaRPr lang="en-US"/>
                    </a:p>
                  </a:txBody>
                  <a:tcPr/>
                </a:tc>
                <a:extLst>
                  <a:ext uri="{0D108BD9-81ED-4DB2-BD59-A6C34878D82A}">
                    <a16:rowId xmlns:a16="http://schemas.microsoft.com/office/drawing/2014/main" val="1600679753"/>
                  </a:ext>
                </a:extLst>
              </a:tr>
              <a:tr h="406400">
                <a:tc vMerge="1">
                  <a:txBody>
                    <a:bodyPr/>
                    <a:lstStyle/>
                    <a:p>
                      <a:endParaRPr lang="en-US"/>
                    </a:p>
                  </a:txBody>
                  <a:tcPr/>
                </a:tc>
                <a:tc>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dataset original</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dataset extendido</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dataset original</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dataset extendido</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961383758"/>
                  </a:ext>
                </a:extLst>
              </a:tr>
              <a:tr h="200025">
                <a:tc>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HAAR</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 0.28</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1.67</a:t>
                      </a:r>
                    </a:p>
                  </a:txBody>
                  <a:tcPr marL="68580" marR="68580" marT="0" marB="0" anchor="ctr"/>
                </a:tc>
                <a:tc>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0.31</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3.41</a:t>
                      </a:r>
                    </a:p>
                  </a:txBody>
                  <a:tcPr marL="68580" marR="68580" marT="0" marB="0" anchor="ctr"/>
                </a:tc>
                <a:extLst>
                  <a:ext uri="{0D108BD9-81ED-4DB2-BD59-A6C34878D82A}">
                    <a16:rowId xmlns:a16="http://schemas.microsoft.com/office/drawing/2014/main" val="1845713924"/>
                  </a:ext>
                </a:extLst>
              </a:tr>
              <a:tr h="200025">
                <a:tc>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MTCNN</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 1.73</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dirty="0">
                          <a:effectLst/>
                          <a:latin typeface="Times New Roman" panose="02020603050405020304" pitchFamily="18" charset="0"/>
                          <a:cs typeface="Times New Roman" panose="02020603050405020304" pitchFamily="18" charset="0"/>
                        </a:rPr>
                        <a:t> 6.70</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dirty="0">
                          <a:effectLst/>
                          <a:latin typeface="Times New Roman" panose="02020603050405020304" pitchFamily="18" charset="0"/>
                          <a:cs typeface="Times New Roman" panose="02020603050405020304" pitchFamily="18" charset="0"/>
                        </a:rPr>
                        <a:t>0.70</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dirty="0">
                          <a:effectLst/>
                          <a:latin typeface="Times New Roman" panose="02020603050405020304" pitchFamily="18" charset="0"/>
                          <a:cs typeface="Times New Roman" panose="02020603050405020304" pitchFamily="18" charset="0"/>
                        </a:rPr>
                        <a:t>3.28</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613541079"/>
                  </a:ext>
                </a:extLst>
              </a:tr>
              <a:tr h="200025">
                <a:tc>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DLIB</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 0.76</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dirty="0">
                          <a:effectLst/>
                          <a:latin typeface="Times New Roman" panose="02020603050405020304" pitchFamily="18" charset="0"/>
                          <a:cs typeface="Times New Roman" panose="02020603050405020304" pitchFamily="18" charset="0"/>
                        </a:rPr>
                        <a:t> 11.66</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dirty="0">
                          <a:effectLst/>
                          <a:latin typeface="Times New Roman" panose="02020603050405020304" pitchFamily="18" charset="0"/>
                          <a:cs typeface="Times New Roman" panose="02020603050405020304" pitchFamily="18" charset="0"/>
                        </a:rPr>
                        <a:t>1.72</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dirty="0">
                          <a:effectLst/>
                          <a:latin typeface="Times New Roman" panose="02020603050405020304" pitchFamily="18" charset="0"/>
                          <a:cs typeface="Times New Roman" panose="02020603050405020304" pitchFamily="18" charset="0"/>
                        </a:rPr>
                        <a:t> 52.80</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873784264"/>
                  </a:ext>
                </a:extLst>
              </a:tr>
              <a:tr h="200025">
                <a:tc>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DNN</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 0.33</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dirty="0">
                          <a:effectLst/>
                          <a:latin typeface="Times New Roman" panose="02020603050405020304" pitchFamily="18" charset="0"/>
                          <a:cs typeface="Times New Roman" panose="02020603050405020304" pitchFamily="18" charset="0"/>
                        </a:rPr>
                        <a:t> 1.56</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dirty="0">
                          <a:effectLst/>
                          <a:latin typeface="Times New Roman" panose="02020603050405020304" pitchFamily="18" charset="0"/>
                          <a:cs typeface="Times New Roman" panose="02020603050405020304" pitchFamily="18" charset="0"/>
                        </a:rPr>
                        <a:t>0.41</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dirty="0">
                          <a:effectLst/>
                          <a:latin typeface="Times New Roman" panose="02020603050405020304" pitchFamily="18" charset="0"/>
                          <a:cs typeface="Times New Roman" panose="02020603050405020304" pitchFamily="18" charset="0"/>
                        </a:rPr>
                        <a:t>4.74</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546832812"/>
                  </a:ext>
                </a:extLst>
              </a:tr>
              <a:tr h="200025">
                <a:tc>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CNN</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dirty="0">
                          <a:effectLst/>
                          <a:latin typeface="Times New Roman" panose="02020603050405020304" pitchFamily="18" charset="0"/>
                          <a:cs typeface="Times New Roman" panose="02020603050405020304" pitchFamily="18" charset="0"/>
                        </a:rPr>
                        <a:t>--</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0.29</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1.13</a:t>
                      </a:r>
                    </a:p>
                  </a:txBody>
                  <a:tcPr marL="68580" marR="68580" marT="0" marB="0" anchor="ctr"/>
                </a:tc>
                <a:extLst>
                  <a:ext uri="{0D108BD9-81ED-4DB2-BD59-A6C34878D82A}">
                    <a16:rowId xmlns:a16="http://schemas.microsoft.com/office/drawing/2014/main" val="4228231650"/>
                  </a:ext>
                </a:extLst>
              </a:tr>
            </a:tbl>
          </a:graphicData>
        </a:graphic>
      </p:graphicFrame>
      <p:graphicFrame>
        <p:nvGraphicFramePr>
          <p:cNvPr id="3" name="Tabla 2">
            <a:extLst>
              <a:ext uri="{FF2B5EF4-FFF2-40B4-BE49-F238E27FC236}">
                <a16:creationId xmlns:a16="http://schemas.microsoft.com/office/drawing/2014/main" id="{6F1E2FE9-9062-49D2-A2CB-A4347FE44D38}"/>
              </a:ext>
            </a:extLst>
          </p:cNvPr>
          <p:cNvGraphicFramePr>
            <a:graphicFrameLocks noGrp="1"/>
          </p:cNvGraphicFramePr>
          <p:nvPr>
            <p:extLst>
              <p:ext uri="{D42A27DB-BD31-4B8C-83A1-F6EECF244321}">
                <p14:modId xmlns:p14="http://schemas.microsoft.com/office/powerpoint/2010/main" val="825478050"/>
              </p:ext>
            </p:extLst>
          </p:nvPr>
        </p:nvGraphicFramePr>
        <p:xfrm>
          <a:off x="116541" y="368347"/>
          <a:ext cx="11752729" cy="2919984"/>
        </p:xfrm>
        <a:graphic>
          <a:graphicData uri="http://schemas.openxmlformats.org/drawingml/2006/table">
            <a:tbl>
              <a:tblPr firstRow="1" firstCol="1" bandRow="1">
                <a:tableStyleId>{5C22544A-7EE6-4342-B048-85BDC9FD1C3A}</a:tableStyleId>
              </a:tblPr>
              <a:tblGrid>
                <a:gridCol w="2160832">
                  <a:extLst>
                    <a:ext uri="{9D8B030D-6E8A-4147-A177-3AD203B41FA5}">
                      <a16:colId xmlns:a16="http://schemas.microsoft.com/office/drawing/2014/main" val="4067487323"/>
                    </a:ext>
                  </a:extLst>
                </a:gridCol>
                <a:gridCol w="2314842">
                  <a:extLst>
                    <a:ext uri="{9D8B030D-6E8A-4147-A177-3AD203B41FA5}">
                      <a16:colId xmlns:a16="http://schemas.microsoft.com/office/drawing/2014/main" val="2905868514"/>
                    </a:ext>
                  </a:extLst>
                </a:gridCol>
                <a:gridCol w="2316009">
                  <a:extLst>
                    <a:ext uri="{9D8B030D-6E8A-4147-A177-3AD203B41FA5}">
                      <a16:colId xmlns:a16="http://schemas.microsoft.com/office/drawing/2014/main" val="992987397"/>
                    </a:ext>
                  </a:extLst>
                </a:gridCol>
                <a:gridCol w="2480523">
                  <a:extLst>
                    <a:ext uri="{9D8B030D-6E8A-4147-A177-3AD203B41FA5}">
                      <a16:colId xmlns:a16="http://schemas.microsoft.com/office/drawing/2014/main" val="224642092"/>
                    </a:ext>
                  </a:extLst>
                </a:gridCol>
                <a:gridCol w="2480523">
                  <a:extLst>
                    <a:ext uri="{9D8B030D-6E8A-4147-A177-3AD203B41FA5}">
                      <a16:colId xmlns:a16="http://schemas.microsoft.com/office/drawing/2014/main" val="3284422708"/>
                    </a:ext>
                  </a:extLst>
                </a:gridCol>
              </a:tblGrid>
              <a:tr h="200025">
                <a:tc rowSpan="3">
                  <a:txBody>
                    <a:bodyPr/>
                    <a:lstStyle/>
                    <a:p>
                      <a:pPr algn="ctr">
                        <a:lnSpc>
                          <a:spcPct val="107000"/>
                        </a:lnSpc>
                        <a:spcAft>
                          <a:spcPts val="800"/>
                        </a:spcAft>
                      </a:pPr>
                      <a:r>
                        <a:rPr lang="es-PE" sz="2400">
                          <a:effectLst/>
                          <a:latin typeface="Times New Roman" panose="02020603050405020304" pitchFamily="18" charset="0"/>
                          <a:cs typeface="Times New Roman" panose="02020603050405020304" pitchFamily="18" charset="0"/>
                        </a:rPr>
                        <a:t> </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gridSpan="2">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Código original</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hMerge="1">
                  <a:txBody>
                    <a:bodyPr/>
                    <a:lstStyle/>
                    <a:p>
                      <a:endParaRPr lang="en-US"/>
                    </a:p>
                  </a:txBody>
                  <a:tcPr/>
                </a:tc>
                <a:tc gridSpan="2">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Código </a:t>
                      </a:r>
                      <a:r>
                        <a:rPr lang="es-PE" sz="2400">
                          <a:effectLst/>
                          <a:latin typeface="Times New Roman" panose="02020603050405020304" pitchFamily="18" charset="0"/>
                          <a:cs typeface="Times New Roman" panose="02020603050405020304" pitchFamily="18" charset="0"/>
                        </a:rPr>
                        <a:t>modificado</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hMerge="1">
                  <a:txBody>
                    <a:bodyPr/>
                    <a:lstStyle/>
                    <a:p>
                      <a:endParaRPr lang="en-US"/>
                    </a:p>
                  </a:txBody>
                  <a:tcPr/>
                </a:tc>
                <a:extLst>
                  <a:ext uri="{0D108BD9-81ED-4DB2-BD59-A6C34878D82A}">
                    <a16:rowId xmlns:a16="http://schemas.microsoft.com/office/drawing/2014/main" val="754636339"/>
                  </a:ext>
                </a:extLst>
              </a:tr>
              <a:tr h="200025">
                <a:tc vMerge="1">
                  <a:txBody>
                    <a:bodyPr/>
                    <a:lstStyle/>
                    <a:p>
                      <a:endParaRPr lang="en-US"/>
                    </a:p>
                  </a:txBody>
                  <a:tcPr/>
                </a:tc>
                <a:tc>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dataset original</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dataset extendido</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dataset original</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dataset extendido</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222775036"/>
                  </a:ext>
                </a:extLst>
              </a:tr>
              <a:tr h="200025">
                <a:tc vMerge="1">
                  <a:txBody>
                    <a:bodyPr/>
                    <a:lstStyle/>
                    <a:p>
                      <a:endParaRPr lang="en-US"/>
                    </a:p>
                  </a:txBody>
                  <a:tcPr/>
                </a:tc>
                <a:tc>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FN; FP</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FN; FP</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FN; FP</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FN; FP</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284168195"/>
                  </a:ext>
                </a:extLst>
              </a:tr>
              <a:tr h="200025">
                <a:tc>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HAAR</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10; 1</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dirty="0">
                          <a:effectLst/>
                          <a:latin typeface="Times New Roman" panose="02020603050405020304" pitchFamily="18" charset="0"/>
                          <a:cs typeface="Times New Roman" panose="02020603050405020304" pitchFamily="18" charset="0"/>
                        </a:rPr>
                        <a:t>38; 5</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8; 1</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dirty="0">
                          <a:effectLst/>
                          <a:latin typeface="Times New Roman" panose="02020603050405020304" pitchFamily="18" charset="0"/>
                          <a:cs typeface="Times New Roman" panose="02020603050405020304" pitchFamily="18" charset="0"/>
                        </a:rPr>
                        <a:t>29; 5</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2423814"/>
                  </a:ext>
                </a:extLst>
              </a:tr>
              <a:tr h="200025">
                <a:tc>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MTCNN</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0; 0</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dirty="0">
                          <a:effectLst/>
                          <a:latin typeface="Times New Roman" panose="02020603050405020304" pitchFamily="18" charset="0"/>
                          <a:cs typeface="Times New Roman" panose="02020603050405020304" pitchFamily="18" charset="0"/>
                        </a:rPr>
                        <a:t>0; 0</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dirty="0">
                          <a:effectLst/>
                          <a:latin typeface="Times New Roman" panose="02020603050405020304" pitchFamily="18" charset="0"/>
                          <a:cs typeface="Times New Roman" panose="02020603050405020304" pitchFamily="18" charset="0"/>
                        </a:rPr>
                        <a:t>0; 0</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0; 0</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779834228"/>
                  </a:ext>
                </a:extLst>
              </a:tr>
              <a:tr h="200025">
                <a:tc>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DLIB</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6; 0</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dirty="0">
                          <a:effectLst/>
                          <a:latin typeface="Times New Roman" panose="02020603050405020304" pitchFamily="18" charset="0"/>
                          <a:cs typeface="Times New Roman" panose="02020603050405020304" pitchFamily="18" charset="0"/>
                        </a:rPr>
                        <a:t>30; 1</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dirty="0">
                          <a:effectLst/>
                          <a:latin typeface="Times New Roman" panose="02020603050405020304" pitchFamily="18" charset="0"/>
                          <a:cs typeface="Times New Roman" panose="02020603050405020304" pitchFamily="18" charset="0"/>
                        </a:rPr>
                        <a:t>5; 0</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dirty="0">
                          <a:effectLst/>
                          <a:latin typeface="Times New Roman" panose="02020603050405020304" pitchFamily="18" charset="0"/>
                          <a:cs typeface="Times New Roman" panose="02020603050405020304" pitchFamily="18" charset="0"/>
                        </a:rPr>
                        <a:t> 26; 0</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6562859"/>
                  </a:ext>
                </a:extLst>
              </a:tr>
              <a:tr h="200025">
                <a:tc>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DNN</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3; 0</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dirty="0">
                          <a:effectLst/>
                          <a:latin typeface="Times New Roman" panose="02020603050405020304" pitchFamily="18" charset="0"/>
                          <a:cs typeface="Times New Roman" panose="02020603050405020304" pitchFamily="18" charset="0"/>
                        </a:rPr>
                        <a:t>20; 1</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dirty="0">
                          <a:effectLst/>
                          <a:latin typeface="Times New Roman" panose="02020603050405020304" pitchFamily="18" charset="0"/>
                          <a:cs typeface="Times New Roman" panose="02020603050405020304" pitchFamily="18" charset="0"/>
                        </a:rPr>
                        <a:t>1; 0</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dirty="0">
                          <a:effectLst/>
                          <a:latin typeface="Times New Roman" panose="02020603050405020304" pitchFamily="18" charset="0"/>
                          <a:cs typeface="Times New Roman" panose="02020603050405020304" pitchFamily="18" charset="0"/>
                        </a:rPr>
                        <a:t>4; 2</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857413524"/>
                  </a:ext>
                </a:extLst>
              </a:tr>
              <a:tr h="200025">
                <a:tc>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CNN</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a:effectLst/>
                          <a:latin typeface="Times New Roman" panose="02020603050405020304" pitchFamily="18" charset="0"/>
                          <a:cs typeface="Times New Roman" panose="02020603050405020304" pitchFamily="18" charset="0"/>
                        </a:rPr>
                        <a:t>1; 0</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2400" dirty="0">
                          <a:effectLst/>
                          <a:latin typeface="Times New Roman" panose="02020603050405020304" pitchFamily="18" charset="0"/>
                          <a:cs typeface="Times New Roman" panose="02020603050405020304" pitchFamily="18" charset="0"/>
                        </a:rPr>
                        <a:t>7; 1</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391599451"/>
                  </a:ext>
                </a:extLst>
              </a:tr>
            </a:tbl>
          </a:graphicData>
        </a:graphic>
      </p:graphicFrame>
    </p:spTree>
    <p:extLst>
      <p:ext uri="{BB962C8B-B14F-4D97-AF65-F5344CB8AC3E}">
        <p14:creationId xmlns:p14="http://schemas.microsoft.com/office/powerpoint/2010/main" val="23820617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D16F5718-492F-473E-83D2-8FFEDF17ECF4}"/>
              </a:ext>
            </a:extLst>
          </p:cNvPr>
          <p:cNvSpPr txBox="1"/>
          <p:nvPr/>
        </p:nvSpPr>
        <p:spPr>
          <a:xfrm>
            <a:off x="2734235" y="196624"/>
            <a:ext cx="6096000" cy="583750"/>
          </a:xfrm>
          <a:prstGeom prst="rect">
            <a:avLst/>
          </a:prstGeom>
          <a:noFill/>
        </p:spPr>
        <p:txBody>
          <a:bodyPr wrap="square">
            <a:spAutoFit/>
          </a:bodyPr>
          <a:lstStyle/>
          <a:p>
            <a:pPr algn="ctr">
              <a:lnSpc>
                <a:spcPct val="107000"/>
              </a:lnSpc>
            </a:pPr>
            <a:r>
              <a:rPr lang="es-PE" sz="3200" dirty="0">
                <a:effectLst/>
                <a:latin typeface="Times New Roman" panose="02020603050405020304" pitchFamily="18" charset="0"/>
                <a:ea typeface="Calibri" panose="020F0502020204030204" pitchFamily="34" charset="0"/>
              </a:rPr>
              <a:t>Conclusiones</a:t>
            </a:r>
          </a:p>
        </p:txBody>
      </p:sp>
      <p:sp>
        <p:nvSpPr>
          <p:cNvPr id="4" name="CuadroTexto 3">
            <a:extLst>
              <a:ext uri="{FF2B5EF4-FFF2-40B4-BE49-F238E27FC236}">
                <a16:creationId xmlns:a16="http://schemas.microsoft.com/office/drawing/2014/main" id="{4D6D4D5E-3EB5-4122-9CDA-759ED0E1BF00}"/>
              </a:ext>
            </a:extLst>
          </p:cNvPr>
          <p:cNvSpPr txBox="1"/>
          <p:nvPr/>
        </p:nvSpPr>
        <p:spPr>
          <a:xfrm>
            <a:off x="543485" y="1080833"/>
            <a:ext cx="10477500" cy="4401205"/>
          </a:xfrm>
          <a:prstGeom prst="rect">
            <a:avLst/>
          </a:prstGeom>
          <a:noFill/>
        </p:spPr>
        <p:txBody>
          <a:bodyPr wrap="square" rtlCol="0">
            <a:spAutoFit/>
          </a:bodyPr>
          <a:lstStyle/>
          <a:p>
            <a:pPr marL="342900" indent="-342900" algn="just">
              <a:buFontTx/>
              <a:buChar char="-"/>
            </a:pPr>
            <a:r>
              <a:rPr lang="es-PE" sz="2000" dirty="0">
                <a:latin typeface="Times New Roman" panose="02020603050405020304" pitchFamily="18" charset="0"/>
                <a:cs typeface="Times New Roman" panose="02020603050405020304" pitchFamily="18" charset="0"/>
              </a:rPr>
              <a:t>El preprocesamiento muestra mejorar en la precisión, en particular en el DNN mostro mejoras mucho mayores que en cualquier otro modelo</a:t>
            </a:r>
          </a:p>
          <a:p>
            <a:pPr marL="342900" indent="-342900" algn="just">
              <a:buFontTx/>
              <a:buChar char="-"/>
            </a:pPr>
            <a:endParaRPr lang="es-PE" sz="2000" dirty="0">
              <a:latin typeface="Times New Roman" panose="02020603050405020304" pitchFamily="18" charset="0"/>
              <a:cs typeface="Times New Roman" panose="02020603050405020304" pitchFamily="18" charset="0"/>
            </a:endParaRPr>
          </a:p>
          <a:p>
            <a:pPr marL="342900" indent="-342900" algn="just">
              <a:buFontTx/>
              <a:buChar char="-"/>
            </a:pPr>
            <a:r>
              <a:rPr lang="es-PE" sz="2000" dirty="0">
                <a:latin typeface="Times New Roman" panose="02020603050405020304" pitchFamily="18" charset="0"/>
                <a:cs typeface="Times New Roman" panose="02020603050405020304" pitchFamily="18" charset="0"/>
              </a:rPr>
              <a:t>En modelo CNN muestra la mayor velocidad y el MTCNN muestra la mejor precisión de los 5 modelos</a:t>
            </a:r>
          </a:p>
          <a:p>
            <a:pPr marL="342900" indent="-342900" algn="just">
              <a:buFontTx/>
              <a:buChar char="-"/>
            </a:pPr>
            <a:endParaRPr lang="es-PE" sz="2000" dirty="0">
              <a:latin typeface="Times New Roman" panose="02020603050405020304" pitchFamily="18" charset="0"/>
              <a:cs typeface="Times New Roman" panose="02020603050405020304" pitchFamily="18" charset="0"/>
            </a:endParaRPr>
          </a:p>
          <a:p>
            <a:pPr marL="342900" indent="-342900" algn="just">
              <a:buFontTx/>
              <a:buChar char="-"/>
            </a:pPr>
            <a:r>
              <a:rPr lang="es-PE" sz="2000" dirty="0">
                <a:latin typeface="Times New Roman" panose="02020603050405020304" pitchFamily="18" charset="0"/>
                <a:cs typeface="Times New Roman" panose="02020603050405020304" pitchFamily="18" charset="0"/>
              </a:rPr>
              <a:t>El uso de </a:t>
            </a:r>
            <a:r>
              <a:rPr lang="es-PE" sz="2000" spc="15" dirty="0">
                <a:solidFill>
                  <a:srgbClr val="000000"/>
                </a:solidFill>
                <a:latin typeface="Times New Roman" panose="02020603050405020304" pitchFamily="18" charset="0"/>
                <a:ea typeface="Calibri" panose="020F0502020204030204" pitchFamily="34" charset="0"/>
                <a:cs typeface="Arial" panose="020B0604020202020204" pitchFamily="34" charset="0"/>
              </a:rPr>
              <a:t>T</a:t>
            </a:r>
            <a:r>
              <a:rPr lang="es-PE" sz="2000" spc="15"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hreshold dinámico mejora la precisión de la CNN</a:t>
            </a:r>
          </a:p>
          <a:p>
            <a:pPr marL="342900" indent="-342900" algn="just">
              <a:buFontTx/>
              <a:buChar char="-"/>
            </a:pPr>
            <a:endParaRPr lang="es-PE" sz="2000" spc="15" dirty="0">
              <a:solidFill>
                <a:srgbClr val="000000"/>
              </a:solidFill>
              <a:latin typeface="Times New Roman" panose="02020603050405020304" pitchFamily="18" charset="0"/>
              <a:ea typeface="Calibri" panose="020F0502020204030204" pitchFamily="34" charset="0"/>
              <a:cs typeface="Arial" panose="020B0604020202020204" pitchFamily="34" charset="0"/>
            </a:endParaRPr>
          </a:p>
          <a:p>
            <a:pPr marL="342900" indent="-342900" algn="just">
              <a:buFontTx/>
              <a:buChar char="-"/>
            </a:pPr>
            <a:r>
              <a:rPr lang="es-PE" sz="2000" spc="15" dirty="0">
                <a:solidFill>
                  <a:srgbClr val="000000"/>
                </a:solidFill>
                <a:latin typeface="Times New Roman" panose="02020603050405020304" pitchFamily="18" charset="0"/>
                <a:ea typeface="Calibri" panose="020F0502020204030204" pitchFamily="34" charset="0"/>
                <a:cs typeface="Arial" panose="020B0604020202020204" pitchFamily="34" charset="0"/>
              </a:rPr>
              <a:t>La paralización mejorar considerablemente la velocidad del programa pero no tanto como una esperaría (x4 o mas) y crear demasiados hilos no es conveniente ya que el tiempo de inicialización incrementa y el programa se ralentiza en lugar de acelerarse</a:t>
            </a:r>
          </a:p>
          <a:p>
            <a:pPr marL="342900" indent="-342900" algn="just">
              <a:buFontTx/>
              <a:buChar char="-"/>
            </a:pPr>
            <a:endParaRPr lang="es-PE" sz="2000" spc="15" dirty="0">
              <a:solidFill>
                <a:srgbClr val="000000"/>
              </a:solidFill>
              <a:latin typeface="Times New Roman" panose="02020603050405020304" pitchFamily="18" charset="0"/>
              <a:ea typeface="Calibri" panose="020F0502020204030204" pitchFamily="34" charset="0"/>
              <a:cs typeface="Arial" panose="020B0604020202020204" pitchFamily="34" charset="0"/>
            </a:endParaRPr>
          </a:p>
          <a:p>
            <a:pPr marL="342900" indent="-342900" algn="just">
              <a:buFontTx/>
              <a:buChar char="-"/>
            </a:pPr>
            <a:r>
              <a:rPr lang="es-MX" sz="2000" dirty="0">
                <a:effectLst/>
                <a:latin typeface="Times New Roman" panose="02020603050405020304" pitchFamily="18" charset="0"/>
                <a:ea typeface="Calibri" panose="020F0502020204030204" pitchFamily="34" charset="0"/>
                <a:cs typeface="Arial" panose="020B0604020202020204" pitchFamily="34" charset="0"/>
              </a:rPr>
              <a:t>El paradigma “</a:t>
            </a:r>
            <a:r>
              <a:rPr lang="es-PE" sz="2000" dirty="0" err="1">
                <a:effectLst/>
                <a:latin typeface="Times New Roman" panose="02020603050405020304" pitchFamily="18" charset="0"/>
                <a:ea typeface="Calibri" panose="020F0502020204030204" pitchFamily="34" charset="0"/>
                <a:cs typeface="Arial" panose="020B0604020202020204" pitchFamily="34" charset="0"/>
              </a:rPr>
              <a:t>embarrassingly</a:t>
            </a:r>
            <a:r>
              <a:rPr lang="es-PE" sz="2000" dirty="0">
                <a:effectLst/>
                <a:latin typeface="Times New Roman" panose="02020603050405020304" pitchFamily="18" charset="0"/>
                <a:ea typeface="Calibri" panose="020F0502020204030204" pitchFamily="34" charset="0"/>
                <a:cs typeface="Arial" panose="020B0604020202020204" pitchFamily="34" charset="0"/>
              </a:rPr>
              <a:t> </a:t>
            </a:r>
            <a:r>
              <a:rPr lang="es-PE" sz="2000" dirty="0" err="1">
                <a:effectLst/>
                <a:latin typeface="Times New Roman" panose="02020603050405020304" pitchFamily="18" charset="0"/>
                <a:ea typeface="Calibri" panose="020F0502020204030204" pitchFamily="34" charset="0"/>
                <a:cs typeface="Arial" panose="020B0604020202020204" pitchFamily="34" charset="0"/>
              </a:rPr>
              <a:t>parallel</a:t>
            </a:r>
            <a:r>
              <a:rPr lang="es-MX" sz="2000" dirty="0">
                <a:effectLst/>
                <a:latin typeface="Times New Roman" panose="02020603050405020304" pitchFamily="18" charset="0"/>
                <a:ea typeface="Calibri" panose="020F0502020204030204" pitchFamily="34" charset="0"/>
                <a:cs typeface="Arial" panose="020B0604020202020204" pitchFamily="34" charset="0"/>
              </a:rPr>
              <a:t>” funciona bien en estos casos donde </a:t>
            </a:r>
            <a:r>
              <a:rPr lang="es-PE" sz="2000" dirty="0">
                <a:effectLst/>
                <a:latin typeface="Times New Roman" panose="02020603050405020304" pitchFamily="18" charset="0"/>
                <a:ea typeface="Calibri" panose="020F0502020204030204" pitchFamily="34" charset="0"/>
                <a:cs typeface="Arial" panose="020B0604020202020204" pitchFamily="34" charset="0"/>
              </a:rPr>
              <a:t>el orden de los resultados no es crítico</a:t>
            </a:r>
            <a:endParaRPr lang="es-PE" sz="2000" dirty="0"/>
          </a:p>
        </p:txBody>
      </p:sp>
    </p:spTree>
    <p:extLst>
      <p:ext uri="{BB962C8B-B14F-4D97-AF65-F5344CB8AC3E}">
        <p14:creationId xmlns:p14="http://schemas.microsoft.com/office/powerpoint/2010/main" val="20302343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2E23A01B-D59F-4B70-B2A9-B56A3E9C70E5}"/>
              </a:ext>
            </a:extLst>
          </p:cNvPr>
          <p:cNvSpPr txBox="1"/>
          <p:nvPr/>
        </p:nvSpPr>
        <p:spPr>
          <a:xfrm>
            <a:off x="188259" y="293035"/>
            <a:ext cx="11205883" cy="4850815"/>
          </a:xfrm>
          <a:prstGeom prst="rect">
            <a:avLst/>
          </a:prstGeom>
          <a:noFill/>
        </p:spPr>
        <p:txBody>
          <a:bodyPr wrap="square">
            <a:spAutoFit/>
          </a:bodyPr>
          <a:lstStyle/>
          <a:p>
            <a:pPr algn="ctr">
              <a:lnSpc>
                <a:spcPct val="107000"/>
              </a:lnSpc>
            </a:pPr>
            <a:r>
              <a:rPr lang="en-US" sz="2800" dirty="0">
                <a:effectLst/>
                <a:latin typeface="Times New Roman" panose="02020603050405020304" pitchFamily="18" charset="0"/>
                <a:ea typeface="Calibri" panose="020F0502020204030204" pitchFamily="34" charset="0"/>
              </a:rPr>
              <a:t>Referencias</a:t>
            </a:r>
          </a:p>
          <a:p>
            <a:pPr algn="ctr">
              <a:lnSpc>
                <a:spcPct val="107000"/>
              </a:lnSpc>
            </a:pPr>
            <a:r>
              <a:rPr lang="en-US" sz="1800" dirty="0">
                <a:effectLst/>
                <a:latin typeface="Times New Roman" panose="02020603050405020304" pitchFamily="18" charset="0"/>
                <a:ea typeface="Calibri" panose="020F0502020204030204" pitchFamily="34" charset="0"/>
              </a:rPr>
              <a:t> </a:t>
            </a:r>
          </a:p>
          <a:p>
            <a:pPr marL="457200" indent="-457200">
              <a:spcAft>
                <a:spcPts val="800"/>
              </a:spcAft>
            </a:pPr>
            <a:r>
              <a:rPr lang="en-US" sz="2000" dirty="0">
                <a:effectLst/>
                <a:latin typeface="Times New Roman" panose="02020603050405020304" pitchFamily="18" charset="0"/>
                <a:ea typeface="Calibri" panose="020F0502020204030204" pitchFamily="34" charset="0"/>
              </a:rPr>
              <a:t>1.	Mia, K.; Islam, T.; </a:t>
            </a:r>
            <a:r>
              <a:rPr lang="en-US" sz="2000" dirty="0" err="1">
                <a:effectLst/>
                <a:latin typeface="Times New Roman" panose="02020603050405020304" pitchFamily="18" charset="0"/>
                <a:ea typeface="Calibri" panose="020F0502020204030204" pitchFamily="34" charset="0"/>
              </a:rPr>
              <a:t>Assaduzzaman</a:t>
            </a:r>
            <a:r>
              <a:rPr lang="en-US" sz="2000" dirty="0">
                <a:effectLst/>
                <a:latin typeface="Times New Roman" panose="02020603050405020304" pitchFamily="18" charset="0"/>
                <a:ea typeface="Calibri" panose="020F0502020204030204" pitchFamily="34" charset="0"/>
              </a:rPr>
              <a:t>, M.; Akhund, T. M. N. U.; </a:t>
            </a:r>
            <a:r>
              <a:rPr lang="en-US" sz="2000" dirty="0" err="1">
                <a:effectLst/>
                <a:latin typeface="Times New Roman" panose="02020603050405020304" pitchFamily="18" charset="0"/>
                <a:ea typeface="Calibri" panose="020F0502020204030204" pitchFamily="34" charset="0"/>
              </a:rPr>
              <a:t>Saha</a:t>
            </a:r>
            <a:r>
              <a:rPr lang="en-US" sz="2000" dirty="0">
                <a:effectLst/>
                <a:latin typeface="Times New Roman" panose="02020603050405020304" pitchFamily="18" charset="0"/>
                <a:ea typeface="Calibri" panose="020F0502020204030204" pitchFamily="34" charset="0"/>
              </a:rPr>
              <a:t>, A.; </a:t>
            </a:r>
            <a:r>
              <a:rPr lang="en-US" sz="2000" dirty="0" err="1">
                <a:effectLst/>
                <a:latin typeface="Times New Roman" panose="02020603050405020304" pitchFamily="18" charset="0"/>
                <a:ea typeface="Calibri" panose="020F0502020204030204" pitchFamily="34" charset="0"/>
              </a:rPr>
              <a:t>Shaha</a:t>
            </a:r>
            <a:r>
              <a:rPr lang="en-US" sz="2000" dirty="0">
                <a:effectLst/>
                <a:latin typeface="Times New Roman" panose="02020603050405020304" pitchFamily="18" charset="0"/>
                <a:ea typeface="Calibri" panose="020F0502020204030204" pitchFamily="34" charset="0"/>
              </a:rPr>
              <a:t>, S. P.; Razzak, M. A.; Dhar, A., Parallelizing image processing algorithms for face recognition on multicore platforms. </a:t>
            </a:r>
            <a:r>
              <a:rPr lang="en-US" sz="2000" i="1" dirty="0">
                <a:effectLst/>
                <a:latin typeface="Times New Roman" panose="02020603050405020304" pitchFamily="18" charset="0"/>
                <a:ea typeface="Calibri" panose="020F0502020204030204" pitchFamily="34" charset="0"/>
              </a:rPr>
              <a:t>International Journal of Advanced Computer Science and Applications </a:t>
            </a:r>
            <a:r>
              <a:rPr lang="en-US" sz="2000" b="1" dirty="0">
                <a:effectLst/>
                <a:latin typeface="Times New Roman" panose="02020603050405020304" pitchFamily="18" charset="0"/>
                <a:ea typeface="Calibri" panose="020F0502020204030204" pitchFamily="34" charset="0"/>
              </a:rPr>
              <a:t>2022,</a:t>
            </a:r>
            <a:r>
              <a:rPr lang="en-US" sz="2000" dirty="0">
                <a:effectLst/>
                <a:latin typeface="Times New Roman" panose="02020603050405020304" pitchFamily="18" charset="0"/>
                <a:ea typeface="Calibri" panose="020F0502020204030204" pitchFamily="34" charset="0"/>
              </a:rPr>
              <a:t> </a:t>
            </a:r>
            <a:r>
              <a:rPr lang="en-US" sz="2000" i="1" dirty="0">
                <a:effectLst/>
                <a:latin typeface="Times New Roman" panose="02020603050405020304" pitchFamily="18" charset="0"/>
                <a:ea typeface="Calibri" panose="020F0502020204030204" pitchFamily="34" charset="0"/>
              </a:rPr>
              <a:t>13</a:t>
            </a:r>
            <a:r>
              <a:rPr lang="en-US" sz="2000" dirty="0">
                <a:effectLst/>
                <a:latin typeface="Times New Roman" panose="02020603050405020304" pitchFamily="18" charset="0"/>
                <a:ea typeface="Calibri" panose="020F0502020204030204" pitchFamily="34" charset="0"/>
              </a:rPr>
              <a:t> (11).</a:t>
            </a:r>
          </a:p>
          <a:p>
            <a:pPr marL="457200" indent="-457200">
              <a:spcAft>
                <a:spcPts val="800"/>
              </a:spcAft>
            </a:pPr>
            <a:r>
              <a:rPr lang="en-US" sz="2000" dirty="0">
                <a:effectLst/>
                <a:latin typeface="Times New Roman" panose="02020603050405020304" pitchFamily="18" charset="0"/>
                <a:ea typeface="Calibri" panose="020F0502020204030204" pitchFamily="34" charset="0"/>
              </a:rPr>
              <a:t>2.	Liu, W.; </a:t>
            </a:r>
            <a:r>
              <a:rPr lang="en-US" sz="2000" dirty="0" err="1">
                <a:effectLst/>
                <a:latin typeface="Times New Roman" panose="02020603050405020304" pitchFamily="18" charset="0"/>
                <a:ea typeface="Calibri" panose="020F0502020204030204" pitchFamily="34" charset="0"/>
              </a:rPr>
              <a:t>Anguelov</a:t>
            </a:r>
            <a:r>
              <a:rPr lang="en-US" sz="2000" dirty="0">
                <a:effectLst/>
                <a:latin typeface="Times New Roman" panose="02020603050405020304" pitchFamily="18" charset="0"/>
                <a:ea typeface="Calibri" panose="020F0502020204030204" pitchFamily="34" charset="0"/>
              </a:rPr>
              <a:t>, D.; Erhan, D.; </a:t>
            </a:r>
            <a:r>
              <a:rPr lang="en-US" sz="2000" dirty="0" err="1">
                <a:effectLst/>
                <a:latin typeface="Times New Roman" panose="02020603050405020304" pitchFamily="18" charset="0"/>
                <a:ea typeface="Calibri" panose="020F0502020204030204" pitchFamily="34" charset="0"/>
              </a:rPr>
              <a:t>Szegedy</a:t>
            </a:r>
            <a:r>
              <a:rPr lang="en-US" sz="2000" dirty="0">
                <a:effectLst/>
                <a:latin typeface="Times New Roman" panose="02020603050405020304" pitchFamily="18" charset="0"/>
                <a:ea typeface="Calibri" panose="020F0502020204030204" pitchFamily="34" charset="0"/>
              </a:rPr>
              <a:t>, C.; Reed, S.; Fu, C.-Y.; Berg, A. C. In </a:t>
            </a:r>
            <a:r>
              <a:rPr lang="en-US" sz="2000" i="1" dirty="0">
                <a:effectLst/>
                <a:latin typeface="Times New Roman" panose="02020603050405020304" pitchFamily="18" charset="0"/>
                <a:ea typeface="Calibri" panose="020F0502020204030204" pitchFamily="34" charset="0"/>
              </a:rPr>
              <a:t>SSD: Single Shot </a:t>
            </a:r>
            <a:r>
              <a:rPr lang="en-US" sz="2000" i="1" dirty="0" err="1">
                <a:effectLst/>
                <a:latin typeface="Times New Roman" panose="02020603050405020304" pitchFamily="18" charset="0"/>
                <a:ea typeface="Calibri" panose="020F0502020204030204" pitchFamily="34" charset="0"/>
              </a:rPr>
              <a:t>MultiBox</a:t>
            </a:r>
            <a:r>
              <a:rPr lang="en-US" sz="2000" i="1" dirty="0">
                <a:effectLst/>
                <a:latin typeface="Times New Roman" panose="02020603050405020304" pitchFamily="18" charset="0"/>
                <a:ea typeface="Calibri" panose="020F0502020204030204" pitchFamily="34" charset="0"/>
              </a:rPr>
              <a:t> Detector</a:t>
            </a:r>
            <a:r>
              <a:rPr lang="en-US" sz="2000" dirty="0">
                <a:effectLst/>
                <a:latin typeface="Times New Roman" panose="02020603050405020304" pitchFamily="18" charset="0"/>
                <a:ea typeface="Calibri" panose="020F0502020204030204" pitchFamily="34" charset="0"/>
              </a:rPr>
              <a:t>, Computer Vision – ECCV 2016, Cham, 2016//; </a:t>
            </a:r>
            <a:r>
              <a:rPr lang="en-US" sz="2000" dirty="0" err="1">
                <a:effectLst/>
                <a:latin typeface="Times New Roman" panose="02020603050405020304" pitchFamily="18" charset="0"/>
                <a:ea typeface="Calibri" panose="020F0502020204030204" pitchFamily="34" charset="0"/>
              </a:rPr>
              <a:t>Leibe</a:t>
            </a:r>
            <a:r>
              <a:rPr lang="en-US" sz="2000" dirty="0">
                <a:effectLst/>
                <a:latin typeface="Times New Roman" panose="02020603050405020304" pitchFamily="18" charset="0"/>
                <a:ea typeface="Calibri" panose="020F0502020204030204" pitchFamily="34" charset="0"/>
              </a:rPr>
              <a:t>, B.; </a:t>
            </a:r>
            <a:r>
              <a:rPr lang="en-US" sz="2000" dirty="0" err="1">
                <a:effectLst/>
                <a:latin typeface="Times New Roman" panose="02020603050405020304" pitchFamily="18" charset="0"/>
                <a:ea typeface="Calibri" panose="020F0502020204030204" pitchFamily="34" charset="0"/>
              </a:rPr>
              <a:t>Matas</a:t>
            </a:r>
            <a:r>
              <a:rPr lang="en-US" sz="2000" dirty="0">
                <a:effectLst/>
                <a:latin typeface="Times New Roman" panose="02020603050405020304" pitchFamily="18" charset="0"/>
                <a:ea typeface="Calibri" panose="020F0502020204030204" pitchFamily="34" charset="0"/>
              </a:rPr>
              <a:t>, J.; </a:t>
            </a:r>
            <a:r>
              <a:rPr lang="en-US" sz="2000" dirty="0" err="1">
                <a:effectLst/>
                <a:latin typeface="Times New Roman" panose="02020603050405020304" pitchFamily="18" charset="0"/>
                <a:ea typeface="Calibri" panose="020F0502020204030204" pitchFamily="34" charset="0"/>
              </a:rPr>
              <a:t>Sebe</a:t>
            </a:r>
            <a:r>
              <a:rPr lang="en-US" sz="2000" dirty="0">
                <a:effectLst/>
                <a:latin typeface="Times New Roman" panose="02020603050405020304" pitchFamily="18" charset="0"/>
                <a:ea typeface="Calibri" panose="020F0502020204030204" pitchFamily="34" charset="0"/>
              </a:rPr>
              <a:t>, N.; Welling, M., Eds. Springer International Publishing: Cham, 2016; pp 21-37.</a:t>
            </a:r>
          </a:p>
          <a:p>
            <a:pPr marL="457200" indent="-457200">
              <a:spcAft>
                <a:spcPts val="800"/>
              </a:spcAft>
            </a:pPr>
            <a:r>
              <a:rPr lang="en-US" sz="2000" dirty="0">
                <a:effectLst/>
                <a:latin typeface="Times New Roman" panose="02020603050405020304" pitchFamily="18" charset="0"/>
                <a:ea typeface="Calibri" panose="020F0502020204030204" pitchFamily="34" charset="0"/>
              </a:rPr>
              <a:t>3.	Qassim, H.; Verma, A.; </a:t>
            </a:r>
            <a:r>
              <a:rPr lang="en-US" sz="2000" dirty="0" err="1">
                <a:effectLst/>
                <a:latin typeface="Times New Roman" panose="02020603050405020304" pitchFamily="18" charset="0"/>
                <a:ea typeface="Calibri" panose="020F0502020204030204" pitchFamily="34" charset="0"/>
              </a:rPr>
              <a:t>Feinzimer</a:t>
            </a:r>
            <a:r>
              <a:rPr lang="en-US" sz="2000" dirty="0">
                <a:effectLst/>
                <a:latin typeface="Times New Roman" panose="02020603050405020304" pitchFamily="18" charset="0"/>
                <a:ea typeface="Calibri" panose="020F0502020204030204" pitchFamily="34" charset="0"/>
              </a:rPr>
              <a:t>, D. In </a:t>
            </a:r>
            <a:r>
              <a:rPr lang="en-US" sz="2000" i="1" dirty="0">
                <a:effectLst/>
                <a:latin typeface="Times New Roman" panose="02020603050405020304" pitchFamily="18" charset="0"/>
                <a:ea typeface="Calibri" panose="020F0502020204030204" pitchFamily="34" charset="0"/>
              </a:rPr>
              <a:t>Compressed residual-VGG16 CNN model for big data places image recognition</a:t>
            </a:r>
            <a:r>
              <a:rPr lang="en-US" sz="2000" dirty="0">
                <a:effectLst/>
                <a:latin typeface="Times New Roman" panose="02020603050405020304" pitchFamily="18" charset="0"/>
                <a:ea typeface="Calibri" panose="020F0502020204030204" pitchFamily="34" charset="0"/>
              </a:rPr>
              <a:t>, 2018 IEEE 8th Annual Computing and Communication Workshop and Conference (CCWC), 8-10 Jan. 2018; 2018; pp 169-175.</a:t>
            </a:r>
          </a:p>
          <a:p>
            <a:pPr marL="457200" indent="-457200">
              <a:spcAft>
                <a:spcPts val="800"/>
              </a:spcAft>
            </a:pPr>
            <a:r>
              <a:rPr lang="en-US" sz="2000" dirty="0">
                <a:effectLst/>
                <a:latin typeface="Times New Roman" panose="02020603050405020304" pitchFamily="18" charset="0"/>
                <a:ea typeface="Calibri" panose="020F0502020204030204" pitchFamily="34" charset="0"/>
              </a:rPr>
              <a:t>4.	</a:t>
            </a:r>
            <a:r>
              <a:rPr lang="en-US" sz="2000" dirty="0" err="1">
                <a:effectLst/>
                <a:latin typeface="Times New Roman" panose="02020603050405020304" pitchFamily="18" charset="0"/>
                <a:ea typeface="Calibri" panose="020F0502020204030204" pitchFamily="34" charset="0"/>
              </a:rPr>
              <a:t>Xie</a:t>
            </a:r>
            <a:r>
              <a:rPr lang="en-US" sz="2000" dirty="0">
                <a:effectLst/>
                <a:latin typeface="Times New Roman" panose="02020603050405020304" pitchFamily="18" charset="0"/>
                <a:ea typeface="Calibri" panose="020F0502020204030204" pitchFamily="34" charset="0"/>
              </a:rPr>
              <a:t>, X.; Han, X.; Liao, Q.; Shi, G., Visualization and Pruning of SSD with the base network VGG16. In </a:t>
            </a:r>
            <a:r>
              <a:rPr lang="en-US" sz="2000" i="1" dirty="0">
                <a:effectLst/>
                <a:latin typeface="Times New Roman" panose="02020603050405020304" pitchFamily="18" charset="0"/>
                <a:ea typeface="Calibri" panose="020F0502020204030204" pitchFamily="34" charset="0"/>
              </a:rPr>
              <a:t>Proceedings of the 2017 International Conference on Deep Learning Technologies</a:t>
            </a:r>
            <a:r>
              <a:rPr lang="en-US" sz="2000" dirty="0">
                <a:effectLst/>
                <a:latin typeface="Times New Roman" panose="02020603050405020304" pitchFamily="18" charset="0"/>
                <a:ea typeface="Calibri" panose="020F0502020204030204" pitchFamily="34" charset="0"/>
              </a:rPr>
              <a:t>, Association for Computing Machinery: Chengdu, China, 2017; pp 90–94.</a:t>
            </a:r>
          </a:p>
        </p:txBody>
      </p:sp>
    </p:spTree>
    <p:extLst>
      <p:ext uri="{BB962C8B-B14F-4D97-AF65-F5344CB8AC3E}">
        <p14:creationId xmlns:p14="http://schemas.microsoft.com/office/powerpoint/2010/main" val="309766187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732</TotalTime>
  <Words>972</Words>
  <Application>Microsoft Office PowerPoint</Application>
  <PresentationFormat>Panorámica</PresentationFormat>
  <Paragraphs>115</Paragraphs>
  <Slides>9</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9</vt:i4>
      </vt:variant>
    </vt:vector>
  </HeadingPairs>
  <TitlesOfParts>
    <vt:vector size="15" baseType="lpstr">
      <vt:lpstr>Arial</vt:lpstr>
      <vt:lpstr>Calibri</vt:lpstr>
      <vt:lpstr>Calibri Light</vt:lpstr>
      <vt:lpstr>Cambria Math</vt:lpstr>
      <vt:lpstr>Times New Roman</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luis antonio selis vasquez</dc:creator>
  <cp:lastModifiedBy>luis antonio selis vasquez</cp:lastModifiedBy>
  <cp:revision>19</cp:revision>
  <dcterms:created xsi:type="dcterms:W3CDTF">2026-01-07T22:14:19Z</dcterms:created>
  <dcterms:modified xsi:type="dcterms:W3CDTF">2026-01-14T22:31:34Z</dcterms:modified>
</cp:coreProperties>
</file>